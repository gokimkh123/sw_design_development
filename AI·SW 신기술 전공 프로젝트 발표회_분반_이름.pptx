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25199975" cy="5039995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47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분류 정확도</c:v>
          </c:tx>
          <c:spPr>
            <a:solidFill>
              <a:srgbClr val="288D26"/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400" b="1">
                    <a:solidFill>
                      <a:srgbClr val="193B22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플라스틱</c:v>
                </c:pt>
                <c:pt idx="1">
                  <c:v>종이</c:v>
                </c:pt>
                <c:pt idx="2">
                  <c:v>캔</c:v>
                </c:pt>
                <c:pt idx="3">
                  <c:v>유리</c:v>
                </c:pt>
                <c:pt idx="4">
                  <c:v>일반쓰레기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0.96</c:v>
                </c:pt>
                <c:pt idx="1">
                  <c:v>0.94</c:v>
                </c:pt>
                <c:pt idx="2">
                  <c:v>0.98</c:v>
                </c:pt>
                <c:pt idx="3">
                  <c:v>0.95</c:v>
                </c:pt>
                <c:pt idx="4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EA-49E2-ABDB-9880D20281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175">
                <a:solidFill>
                  <a:srgbClr val="193B22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AE6D5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100">
                <a:solidFill>
                  <a:srgbClr val="193B22"/>
                </a:solidFill>
              </a:defRPr>
            </a:pPr>
            <a:endParaRPr lang="ko-KR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E6BC0B8-43BA-4587-BB22-3034E8C08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25199975" cy="503999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0A94-15AC-445B-88CB-963F881D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03C0-2F4F-4BF6-8F8C-AF9C6C1D3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98A9-78B1-424A-BED4-E2D1EA2E2A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2923D-BC9A-4508-A7CA-D510D6E6CF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BA240-D235-450E-A2FD-DE400D9832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7032-478C-4C5D-9ABD-F3B6DFBB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5" y="12565002"/>
            <a:ext cx="21734978" cy="20964976"/>
          </a:xfrm>
        </p:spPr>
        <p:txBody>
          <a:bodyPr anchor="b"/>
          <a:lstStyle>
            <a:lvl1pPr>
              <a:buNone/>
              <a:defRPr sz="16535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EBAEF-EC6C-46F1-8110-6A0AD4B2E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5" y="33728315"/>
            <a:ext cx="21734978" cy="1102498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8EE94-65DC-4938-AC1B-3C28DDE380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115B9-CDCB-48D8-979C-7DD3FDF7D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3024D-9D5C-42A7-8B5F-7B2CBDC95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64AB-1237-46FC-A3B8-4544CB4A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BA2B-022B-4AD7-B5BC-24B36DF0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498" y="13416653"/>
            <a:ext cx="10709989" cy="31978305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305FB-768B-40BF-962C-6D96125054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2757488" y="13416653"/>
            <a:ext cx="10709989" cy="31978305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C8B8B-0120-44FA-8219-1227428824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00854-134F-4FCF-B6A1-21CAB2BEBC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D5302-F383-405E-B35C-16A69C50F8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2B4C-0844-48EF-A7D3-1F92D884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1" y="2683342"/>
            <a:ext cx="21734978" cy="9741661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170D7-107A-417B-A524-91A4A24B8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3" y="12354992"/>
            <a:ext cx="10660769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FE792-8F5A-48C0-B76C-53D78EF5BFA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735783" y="18409982"/>
            <a:ext cx="10660769" cy="27078310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75B4D-758E-45AC-A76B-4E6690153A6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757489" y="12354992"/>
            <a:ext cx="10713272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D9DDA-92CE-419B-806E-F6B5D5A9A34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2757489" y="18409982"/>
            <a:ext cx="10713272" cy="27078310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D8676-0A5D-454B-9AAF-56D95292FC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51534-19A2-4196-AD46-D7FBB7EE40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CEBD4-2E2B-42B2-8C24-40DB4D6C46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693D-60C3-4498-A5F1-DEAAE3F2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18C40-88BA-41E2-88BD-316C99BC2A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48111-5464-4FC9-8F0E-DB2CB5EFC4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96B90-F598-4D29-968D-8FDE9443D6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2BC6A-7FF1-4EE8-A11F-CEF3ACCF89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EF93A-FF69-4549-B9EB-B658AF7924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7EFAA-A1CA-4E67-A353-F94E25481A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1388-3061-4042-8A3C-2EB5EF96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757F-E856-4579-9E18-1269A1722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7256671"/>
            <a:ext cx="12757487" cy="35816631"/>
          </a:xfrm>
        </p:spPr>
        <p:txBody>
          <a:bodyPr/>
          <a:lstStyle>
            <a:lvl1pPr>
              <a:buNone/>
              <a:defRPr sz="8819"/>
            </a:lvl1pPr>
            <a:lvl2pPr>
              <a:buNone/>
              <a:defRPr sz="7717"/>
            </a:lvl2pPr>
            <a:lvl3pPr>
              <a:buNone/>
              <a:defRPr sz="6614"/>
            </a:lvl3pPr>
            <a:lvl4pPr>
              <a:buNone/>
              <a:defRPr sz="5512"/>
            </a:lvl4pPr>
            <a:lvl5pPr>
              <a:buNone/>
              <a:defRPr sz="5512"/>
            </a:lvl5pPr>
            <a:lvl6pPr>
              <a:buNone/>
              <a:defRPr sz="5512"/>
            </a:lvl6pPr>
            <a:lvl7pPr>
              <a:buNone/>
              <a:defRPr sz="5512"/>
            </a:lvl7pPr>
            <a:lvl8pPr>
              <a:buNone/>
              <a:defRPr sz="5512"/>
            </a:lvl8pPr>
            <a:lvl9pPr>
              <a:buNone/>
              <a:defRPr sz="5512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16623-CA0F-43C0-9E3A-62E02CDF39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55309-CD48-4CB3-A711-04543F64D2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D64C1-B834-4AAE-8E59-9BCC90A1AB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B765A-955F-4713-A629-990A18B76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B983-75D3-43A3-A444-175500C2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910D9-403F-47E2-A69A-79E3B63BF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7256671"/>
            <a:ext cx="12757487" cy="35816631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E9B02-B917-4556-81C9-CEB9D28E57A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76B5C-438C-4FFD-851F-6CEA70D0E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E704F-2EC2-4FFC-BD10-CEF0FC0728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47D2B-DC37-425C-B943-0C1428F52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93C4-3DF3-4BFF-91D3-9F809F49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72F1D-FC2C-4779-861F-F0A0D63CB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62FB-228E-40E3-941A-88A726EE31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B996-BDA2-4FB5-A110-640F030F4A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B73AB-44FD-44E5-81A9-93E538806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8B2DE-156E-471B-8EDF-902C9681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3733" y="2683331"/>
            <a:ext cx="5433745" cy="4271162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96BE9-22C1-4668-B2DC-C9C8F7CA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500" y="2683331"/>
            <a:ext cx="15986234" cy="4271162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078A5-56C9-4717-992B-611E1F927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2D0A5-110C-411B-BD5F-0756C0F0BE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CFE70-55E4-4FEC-A9E0-ECB9A1005F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57EE8-0B47-4888-90EC-6BCCDC9E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99" y="2683342"/>
            <a:ext cx="21734978" cy="974166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8C956-811A-45E7-A948-0A9EF3AF8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499" y="13416653"/>
            <a:ext cx="21734978" cy="3197830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6B746-902F-4297-9415-493420DB7A4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732498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5D779-BE9D-4FDC-B110-A5ADA8610006}" type="datetimeFigureOut">
              <a:t>2026-10-19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C4D1-C099-4193-8807-9D51968E6CF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347492" y="46713298"/>
            <a:ext cx="8504992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278DA-990E-48B9-AB55-801580DEB86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7797483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03DCA-9940-43C4-9E50-4A34BDE669F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519995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629999" indent="-629999" algn="l" defTabSz="2519995">
        <a:lnSpc>
          <a:spcPct val="90000"/>
        </a:lnSpc>
        <a:spcBef>
          <a:spcPts val="2756"/>
        </a:spcBef>
        <a:buFont typeface="Arial"/>
        <a:buChar char="•"/>
        <a:defRPr sz="7717" kern="1200">
          <a:solidFill>
            <a:schemeClr val="tx1"/>
          </a:solidFill>
          <a:latin typeface="+mn-lt"/>
          <a:ea typeface="+mn-lt"/>
          <a:cs typeface="+mn-lt"/>
        </a:defRPr>
      </a:lvl1pPr>
      <a:lvl2pPr marL="188999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6614" kern="1200">
          <a:solidFill>
            <a:schemeClr val="tx1"/>
          </a:solidFill>
          <a:latin typeface="+mn-lt"/>
          <a:ea typeface="+mn-lt"/>
          <a:cs typeface="+mn-lt"/>
        </a:defRPr>
      </a:lvl2pPr>
      <a:lvl3pPr marL="314999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5512" kern="1200">
          <a:solidFill>
            <a:schemeClr val="tx1"/>
          </a:solidFill>
          <a:latin typeface="+mn-lt"/>
          <a:ea typeface="+mn-lt"/>
          <a:cs typeface="+mn-lt"/>
        </a:defRPr>
      </a:lvl3pPr>
      <a:lvl4pPr marL="440999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66998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92998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818998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944998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70997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1pPr>
      <a:lvl2pPr marL="125999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2pPr>
      <a:lvl3pPr marL="251999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3pPr>
      <a:lvl4pPr marL="377999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03999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29998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755998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881998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07998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4CAE4D-B93C-5B7F-4753-E6960337DEA7}"/>
              </a:ext>
            </a:extLst>
          </p:cNvPr>
          <p:cNvSpPr>
            <a:spLocks noGrp="1"/>
          </p:cNvSpPr>
          <p:nvPr/>
        </p:nvSpPr>
        <p:spPr>
          <a:xfrm>
            <a:off x="1727654" y="4565537"/>
            <a:ext cx="4092121" cy="6224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chemeClr val="bg1"/>
                </a:solidFill>
              </a:rPr>
              <a:t>프로젝트명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89FA6-79CC-0748-672B-CA75A6939ED5}"/>
              </a:ext>
            </a:extLst>
          </p:cNvPr>
          <p:cNvSpPr>
            <a:spLocks noGrp="1"/>
          </p:cNvSpPr>
          <p:nvPr/>
        </p:nvSpPr>
        <p:spPr>
          <a:xfrm>
            <a:off x="2473323" y="5854587"/>
            <a:ext cx="20253328" cy="1373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000" b="1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AI 분리배출 도우미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D7156-CCC7-8E70-0D95-8D735CA5FE0E}"/>
              </a:ext>
            </a:extLst>
          </p:cNvPr>
          <p:cNvSpPr>
            <a:spLocks noGrp="1"/>
          </p:cNvSpPr>
          <p:nvPr/>
        </p:nvSpPr>
        <p:spPr>
          <a:xfrm>
            <a:off x="2473323" y="7446168"/>
            <a:ext cx="20253328" cy="608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40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“쓰레기를 촬영하면 AI가 종류를 분석하고 올바른 분리배출 방법을 알려주는 서비스”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E6ABC-3930-99E4-78C4-E5ED7DBA600C}"/>
              </a:ext>
            </a:extLst>
          </p:cNvPr>
          <p:cNvSpPr>
            <a:spLocks noGrp="1"/>
          </p:cNvSpPr>
          <p:nvPr/>
        </p:nvSpPr>
        <p:spPr>
          <a:xfrm>
            <a:off x="1825623" y="9443148"/>
            <a:ext cx="15525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4EEC8-7D19-3E33-8403-B05E6D795AEA}"/>
              </a:ext>
            </a:extLst>
          </p:cNvPr>
          <p:cNvSpPr>
            <a:spLocks noGrp="1"/>
          </p:cNvSpPr>
          <p:nvPr/>
        </p:nvSpPr>
        <p:spPr>
          <a:xfrm>
            <a:off x="1824035" y="11135066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D9EEA-D381-A6F8-A1FB-8A6B7A992195}"/>
              </a:ext>
            </a:extLst>
          </p:cNvPr>
          <p:cNvSpPr>
            <a:spLocks noGrp="1"/>
          </p:cNvSpPr>
          <p:nvPr/>
        </p:nvSpPr>
        <p:spPr>
          <a:xfrm>
            <a:off x="1825623" y="10105929"/>
            <a:ext cx="6165804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5000" b="1">
                <a:latin typeface="맑은 고딕"/>
                <a:ea typeface="맑은 고딕"/>
                <a:cs typeface="맑은 고딕"/>
              </a:rPr>
              <a:t>그린픽 GREEN PICK</a:t>
            </a:r>
          </a:p>
        </p:txBody>
      </p:sp>
      <p:sp>
        <p:nvSpPr>
          <p:cNvPr id="21" name="사각형: 잘린 위쪽 모서리 20">
            <a:extLst>
              <a:ext uri="{FF2B5EF4-FFF2-40B4-BE49-F238E27FC236}">
                <a16:creationId xmlns:a16="http://schemas.microsoft.com/office/drawing/2014/main" id="{BBA1C118-1650-79CF-7D0A-4436592A06FC}"/>
              </a:ext>
            </a:extLst>
          </p:cNvPr>
          <p:cNvSpPr>
            <a:spLocks noGrp="1"/>
          </p:cNvSpPr>
          <p:nvPr/>
        </p:nvSpPr>
        <p:spPr>
          <a:xfrm>
            <a:off x="1115823" y="5211083"/>
            <a:ext cx="22968329" cy="3440792"/>
          </a:xfrm>
          <a:prstGeom prst="snip2SameRect">
            <a:avLst>
              <a:gd name="adj1" fmla="val 9145"/>
              <a:gd name="adj2" fmla="val 9193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115824" y="9126380"/>
            <a:ext cx="12040669" cy="5450830"/>
          </a:xfrm>
          <a:prstGeom prst="snip2SameRect">
            <a:avLst>
              <a:gd name="adj1" fmla="val 13590"/>
              <a:gd name="adj2" fmla="val 12426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D366D-B7C0-57FC-3ADC-A4A8D3C31F54}"/>
              </a:ext>
            </a:extLst>
          </p:cNvPr>
          <p:cNvSpPr>
            <a:spLocks noGrp="1"/>
          </p:cNvSpPr>
          <p:nvPr/>
        </p:nvSpPr>
        <p:spPr>
          <a:xfrm>
            <a:off x="3121024" y="891540"/>
            <a:ext cx="18957926" cy="26768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AI·SW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신기술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3EX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전공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endParaRPr lang="en-US"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  <a:p>
            <a:pPr algn="ctr">
              <a:buNone/>
            </a:pP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프로젝트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발표회</a:t>
            </a:r>
            <a:endParaRPr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9D89C-6DE2-B1F2-83AF-CEE1CA096180}"/>
              </a:ext>
            </a:extLst>
          </p:cNvPr>
          <p:cNvSpPr>
            <a:spLocks noGrp="1"/>
          </p:cNvSpPr>
          <p:nvPr/>
        </p:nvSpPr>
        <p:spPr>
          <a:xfrm>
            <a:off x="9051015" y="9443148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지도교수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flipH="1">
            <a:off x="8506821" y="9373839"/>
            <a:ext cx="28800" cy="1433670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43A27A-448D-77ED-D5AB-C41EE7D79BA3}"/>
              </a:ext>
            </a:extLst>
          </p:cNvPr>
          <p:cNvSpPr>
            <a:spLocks noGrp="1"/>
          </p:cNvSpPr>
          <p:nvPr/>
        </p:nvSpPr>
        <p:spPr>
          <a:xfrm>
            <a:off x="9051015" y="10105929"/>
            <a:ext cx="3979187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5000" b="1">
                <a:latin typeface="맑은 고딕"/>
                <a:ea typeface="맑은 고딕"/>
                <a:cs typeface="맑은 고딕"/>
              </a:rPr>
              <a:t>홍길동</a:t>
            </a:r>
          </a:p>
        </p:txBody>
      </p:sp>
      <p:sp>
        <p:nvSpPr>
          <p:cNvPr id="33" name="사각형: 잘린 위쪽 모서리 32">
            <a:extLst>
              <a:ext uri="{FF2B5EF4-FFF2-40B4-BE49-F238E27FC236}">
                <a16:creationId xmlns:a16="http://schemas.microsoft.com/office/drawing/2014/main" id="{C626C3AE-3093-BD9D-72B6-CB3997022CE7}"/>
              </a:ext>
            </a:extLst>
          </p:cNvPr>
          <p:cNvSpPr>
            <a:spLocks noGrp="1"/>
          </p:cNvSpPr>
          <p:nvPr/>
        </p:nvSpPr>
        <p:spPr>
          <a:xfrm>
            <a:off x="1115823" y="15051715"/>
            <a:ext cx="22968329" cy="33251827"/>
          </a:xfrm>
          <a:prstGeom prst="snip2SameRect">
            <a:avLst>
              <a:gd name="adj1" fmla="val 1350"/>
              <a:gd name="adj2" fmla="val 1872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3671887" y="9116071"/>
            <a:ext cx="10412265" cy="5461139"/>
          </a:xfrm>
          <a:prstGeom prst="snip2SameRect">
            <a:avLst>
              <a:gd name="adj1" fmla="val 13590"/>
              <a:gd name="adj2" fmla="val 12426"/>
            </a:avLst>
          </a:prstGeom>
          <a:blipFill>
            <a:blip r:embed="rId3"/>
            <a:stretch>
              <a:fillRect/>
            </a:stretch>
          </a:blipFill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05E0BC-D4E5-4A02-8FEA-70A4F35284BD}"/>
              </a:ext>
            </a:extLst>
          </p:cNvPr>
          <p:cNvGraphicFramePr/>
          <p:nvPr/>
        </p:nvGraphicFramePr>
        <p:xfrm>
          <a:off x="1824035" y="11737967"/>
          <a:ext cx="10600194" cy="27432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5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학과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이름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역할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컴퓨터공학과 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김민준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팀장·백엔드 개발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인공지능학과 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이서연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AI 모델 개발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산업디자인학과 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박지우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UI·UX 디자인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전자공학과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최현우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>
                          <a:latin typeface="+mn-ea"/>
                          <a:ea typeface="+mn-ea"/>
                          <a:cs typeface="+mn-ea"/>
                        </a:rPr>
                        <a:t>IoT 기기 개발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BCB43DBC-8080-408F-B64F-84EF01CCC80E}"/>
              </a:ext>
            </a:extLst>
          </p:cNvPr>
          <p:cNvSpPr>
            <a:spLocks noGrp="1"/>
          </p:cNvSpPr>
          <p:nvPr/>
        </p:nvSpPr>
        <p:spPr>
          <a:xfrm>
            <a:off x="1727653" y="16307924"/>
            <a:ext cx="219582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4000" b="1" dirty="0" err="1">
                <a:latin typeface="+mn-ea"/>
                <a:ea typeface="+mn-ea"/>
                <a:cs typeface="+mn-ea"/>
              </a:rPr>
              <a:t>쓰레기를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촬영하면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AI가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종류를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분석하고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올바른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분리배출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방법을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알려주는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서비스입니다</a:t>
            </a:r>
            <a:r>
              <a:rPr sz="4000" b="1" dirty="0">
                <a:latin typeface="+mn-ea"/>
                <a:ea typeface="+mn-ea"/>
                <a:cs typeface="+mn-ea"/>
              </a:rPr>
              <a:t>. </a:t>
            </a:r>
            <a:r>
              <a:rPr sz="4000" b="1" dirty="0" err="1">
                <a:latin typeface="+mn-ea"/>
                <a:ea typeface="+mn-ea"/>
                <a:cs typeface="+mn-ea"/>
              </a:rPr>
              <a:t>스마트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수거함과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연동해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배출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현황을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확인하고</a:t>
            </a:r>
            <a:r>
              <a:rPr sz="4000" b="1" dirty="0">
                <a:latin typeface="+mn-ea"/>
                <a:ea typeface="+mn-ea"/>
                <a:cs typeface="+mn-ea"/>
              </a:rPr>
              <a:t>, </a:t>
            </a:r>
            <a:r>
              <a:rPr sz="4000" b="1" dirty="0" err="1">
                <a:latin typeface="+mn-ea"/>
                <a:ea typeface="+mn-ea"/>
                <a:cs typeface="+mn-ea"/>
              </a:rPr>
              <a:t>참여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포인트로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친환경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실천을</a:t>
            </a:r>
            <a:r>
              <a:rPr sz="4000" b="1" dirty="0"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latin typeface="+mn-ea"/>
                <a:ea typeface="+mn-ea"/>
                <a:cs typeface="+mn-ea"/>
              </a:rPr>
              <a:t>유도합니다</a:t>
            </a:r>
            <a:r>
              <a:rPr sz="4000" b="1" dirty="0">
                <a:latin typeface="+mn-ea"/>
                <a:ea typeface="+mn-ea"/>
                <a:cs typeface="+mn-ea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F6888F-04F6-4BFD-B74B-173FCBA6D616}"/>
              </a:ext>
            </a:extLst>
          </p:cNvPr>
          <p:cNvSpPr>
            <a:spLocks noGrp="1"/>
          </p:cNvSpPr>
          <p:nvPr/>
        </p:nvSpPr>
        <p:spPr>
          <a:xfrm>
            <a:off x="1415845" y="15388884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프로젝트 소개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15844" y="18105868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주요 기능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F2074B-E09C-4F8B-B742-E9CD3DBCEDED}"/>
              </a:ext>
            </a:extLst>
          </p:cNvPr>
          <p:cNvSpPr>
            <a:spLocks noGrp="1"/>
          </p:cNvSpPr>
          <p:nvPr/>
        </p:nvSpPr>
        <p:spPr>
          <a:xfrm>
            <a:off x="1824035" y="19249937"/>
            <a:ext cx="125984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 err="1">
                <a:latin typeface="+mn-ea"/>
                <a:ea typeface="+mn-ea"/>
              </a:rPr>
              <a:t>이미지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인식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기반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쓰레기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분류</a:t>
            </a:r>
            <a:endParaRPr lang="en-US" sz="40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 err="1">
                <a:latin typeface="+mn-ea"/>
                <a:ea typeface="+mn-ea"/>
              </a:rPr>
              <a:t>품목별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분리배출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방법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안내</a:t>
            </a:r>
            <a:endParaRPr lang="en-US" sz="40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 err="1">
                <a:latin typeface="+mn-ea"/>
                <a:ea typeface="+mn-ea"/>
              </a:rPr>
              <a:t>스마트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수거함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적재량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확인</a:t>
            </a:r>
            <a:endParaRPr lang="en-US" sz="40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 err="1">
                <a:latin typeface="+mn-ea"/>
                <a:ea typeface="+mn-ea"/>
              </a:rPr>
              <a:t>친환경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활동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포인트</a:t>
            </a:r>
            <a:r>
              <a:rPr sz="4000" dirty="0">
                <a:latin typeface="+mn-ea"/>
                <a:ea typeface="+mn-ea"/>
              </a:rPr>
              <a:t> 및 </a:t>
            </a:r>
            <a:r>
              <a:rPr sz="4000" dirty="0" err="1">
                <a:latin typeface="+mn-ea"/>
                <a:ea typeface="+mn-ea"/>
              </a:rPr>
              <a:t>통계</a:t>
            </a:r>
            <a:endParaRPr sz="4000" dirty="0">
              <a:latin typeface="+mn-ea"/>
              <a:ea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3448B7-8C9C-4122-8956-BA98395B6B66}"/>
              </a:ext>
            </a:extLst>
          </p:cNvPr>
          <p:cNvSpPr>
            <a:spLocks noGrp="1"/>
          </p:cNvSpPr>
          <p:nvPr/>
        </p:nvSpPr>
        <p:spPr>
          <a:xfrm>
            <a:off x="12424229" y="18105868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기대 효과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4F8BF7-4EC2-411B-90FF-02014A154B56}"/>
              </a:ext>
            </a:extLst>
          </p:cNvPr>
          <p:cNvSpPr>
            <a:spLocks noGrp="1"/>
          </p:cNvSpPr>
          <p:nvPr/>
        </p:nvSpPr>
        <p:spPr>
          <a:xfrm>
            <a:off x="13030202" y="19042038"/>
            <a:ext cx="106557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 err="1">
                <a:latin typeface="+mn-ea"/>
                <a:ea typeface="+mn-ea"/>
              </a:rPr>
              <a:t>분리배출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실수를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줄이고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재활용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참여를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높여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지속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가능한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캠퍼스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조성에</a:t>
            </a:r>
            <a:r>
              <a:rPr sz="4000" dirty="0">
                <a:latin typeface="+mn-ea"/>
                <a:ea typeface="+mn-ea"/>
              </a:rPr>
              <a:t> </a:t>
            </a:r>
            <a:r>
              <a:rPr sz="4000" dirty="0" err="1">
                <a:latin typeface="+mn-ea"/>
                <a:ea typeface="+mn-ea"/>
              </a:rPr>
              <a:t>기여합니다</a:t>
            </a:r>
            <a:r>
              <a:rPr sz="4000" dirty="0">
                <a:latin typeface="+mn-ea"/>
                <a:ea typeface="+mn-ea"/>
              </a:rPr>
              <a:t>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rot="16200000">
            <a:off x="12626772" y="11067450"/>
            <a:ext cx="45719" cy="22072556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532ABC-4C84-445E-B6EA-07F9D7162B85}"/>
              </a:ext>
            </a:extLst>
          </p:cNvPr>
          <p:cNvSpPr>
            <a:spLocks noGrp="1"/>
          </p:cNvSpPr>
          <p:nvPr/>
        </p:nvSpPr>
        <p:spPr>
          <a:xfrm>
            <a:off x="1415796" y="22630307"/>
            <a:ext cx="981075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시스템 작동 흐름도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1650DB-6E4A-4C7C-B84E-B3FCC642D70A}"/>
              </a:ext>
            </a:extLst>
          </p:cNvPr>
          <p:cNvSpPr>
            <a:spLocks noGrp="1"/>
          </p:cNvSpPr>
          <p:nvPr/>
        </p:nvSpPr>
        <p:spPr>
          <a:xfrm>
            <a:off x="1415796" y="30487858"/>
            <a:ext cx="8413956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서비스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이용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화면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예시</a:t>
            </a:r>
            <a:endParaRPr sz="4800" dirty="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036ADD1-B731-463E-BCB5-631F774C36C2}"/>
              </a:ext>
            </a:extLst>
          </p:cNvPr>
          <p:cNvSpPr>
            <a:spLocks noGrp="1"/>
          </p:cNvSpPr>
          <p:nvPr/>
        </p:nvSpPr>
        <p:spPr>
          <a:xfrm>
            <a:off x="1415796" y="36321492"/>
            <a:ext cx="1133475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품목별 분류 정확도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917EB0F-F9E5-4793-81F8-DDFBA4B4D0B5}"/>
              </a:ext>
            </a:extLst>
          </p:cNvPr>
          <p:cNvSpPr>
            <a:spLocks noGrp="1"/>
          </p:cNvSpPr>
          <p:nvPr/>
        </p:nvSpPr>
        <p:spPr>
          <a:xfrm>
            <a:off x="12998007" y="36321492"/>
            <a:ext cx="1028700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기존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방식과의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비교표</a:t>
            </a:r>
            <a:endParaRPr sz="4800" dirty="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18DBE92-8CCE-4B35-A2A5-50261A9EE118}"/>
              </a:ext>
            </a:extLst>
          </p:cNvPr>
          <p:cNvSpPr>
            <a:spLocks noGrp="1"/>
          </p:cNvSpPr>
          <p:nvPr/>
        </p:nvSpPr>
        <p:spPr>
          <a:xfrm>
            <a:off x="1415843" y="43717192"/>
            <a:ext cx="122560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개발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일정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및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향후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계획</a:t>
            </a:r>
            <a:endParaRPr sz="4800" dirty="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83BF4E9-5E29-4BA3-BD6E-EBD0E84867A1}"/>
              </a:ext>
            </a:extLst>
          </p:cNvPr>
          <p:cNvSpPr>
            <a:spLocks noGrp="1"/>
          </p:cNvSpPr>
          <p:nvPr/>
        </p:nvSpPr>
        <p:spPr>
          <a:xfrm>
            <a:off x="12349076" y="22626289"/>
            <a:ext cx="122560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스마트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분리배출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시스템</a:t>
            </a:r>
            <a:endParaRPr sz="4800" dirty="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640CA28-B416-4BB7-BCDB-994E6423E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4095" y="23730953"/>
            <a:ext cx="11979690" cy="5989845"/>
          </a:xfrm>
          <a:prstGeom prst="rect">
            <a:avLst/>
          </a:prstGeom>
        </p:spPr>
      </p:pic>
      <p:sp>
        <p:nvSpPr>
          <p:cNvPr id="37" name="GP_flow0">
            <a:extLst>
              <a:ext uri="{FF2B5EF4-FFF2-40B4-BE49-F238E27FC236}">
                <a16:creationId xmlns:a16="http://schemas.microsoft.com/office/drawing/2014/main" id="{DCD59489-1326-438D-BE52-9117802138AC}"/>
              </a:ext>
            </a:extLst>
          </p:cNvPr>
          <p:cNvSpPr>
            <a:spLocks noGrp="1"/>
          </p:cNvSpPr>
          <p:nvPr/>
        </p:nvSpPr>
        <p:spPr>
          <a:xfrm>
            <a:off x="1952625" y="24174450"/>
            <a:ext cx="8953500" cy="1066800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38" name="GP_step0">
            <a:extLst>
              <a:ext uri="{FF2B5EF4-FFF2-40B4-BE49-F238E27FC236}">
                <a16:creationId xmlns:a16="http://schemas.microsoft.com/office/drawing/2014/main" id="{ECA421B8-AC6C-41E5-B509-13C3355B805F}"/>
              </a:ext>
            </a:extLst>
          </p:cNvPr>
          <p:cNvSpPr>
            <a:spLocks noGrp="1"/>
          </p:cNvSpPr>
          <p:nvPr/>
        </p:nvSpPr>
        <p:spPr>
          <a:xfrm>
            <a:off x="2143125" y="24222075"/>
            <a:ext cx="3714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288D26"/>
                </a:solidFill>
              </a:defRPr>
            </a:defPPr>
          </a:lstStyle>
          <a:p>
            <a:pPr algn="l">
              <a:defRPr sz="3300" b="1">
                <a:solidFill>
                  <a:srgbClr val="288D26"/>
                </a:solidFill>
              </a:defRPr>
            </a:pPr>
            <a:r>
              <a:rPr sz="3300" b="1">
                <a:solidFill>
                  <a:srgbClr val="288D26"/>
                </a:solidFill>
              </a:rPr>
              <a:t>01  촬영·입력</a:t>
            </a:r>
          </a:p>
        </p:txBody>
      </p:sp>
      <p:sp>
        <p:nvSpPr>
          <p:cNvPr id="39" name="GP_desc0">
            <a:extLst>
              <a:ext uri="{FF2B5EF4-FFF2-40B4-BE49-F238E27FC236}">
                <a16:creationId xmlns:a16="http://schemas.microsoft.com/office/drawing/2014/main" id="{5EF4064F-74B8-4D21-9F14-FE39188C9543}"/>
              </a:ext>
            </a:extLst>
          </p:cNvPr>
          <p:cNvSpPr>
            <a:spLocks noGrp="1"/>
          </p:cNvSpPr>
          <p:nvPr/>
        </p:nvSpPr>
        <p:spPr>
          <a:xfrm>
            <a:off x="5953125" y="24222075"/>
            <a:ext cx="4810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925" b="0">
                <a:solidFill>
                  <a:srgbClr val="193B22"/>
                </a:solidFill>
              </a:defRPr>
            </a:defPPr>
          </a:lstStyle>
          <a:p>
            <a:pPr algn="l">
              <a:defRPr sz="2925" b="0">
                <a:solidFill>
                  <a:srgbClr val="193B22"/>
                </a:solidFill>
              </a:defRPr>
            </a:pPr>
            <a:r>
              <a:rPr sz="2925" b="0" dirty="0" err="1">
                <a:solidFill>
                  <a:srgbClr val="193B22"/>
                </a:solidFill>
              </a:rPr>
              <a:t>사진을</a:t>
            </a:r>
            <a:r>
              <a:rPr sz="2925" b="0" dirty="0">
                <a:solidFill>
                  <a:srgbClr val="193B22"/>
                </a:solidFill>
              </a:rPr>
              <a:t> </a:t>
            </a:r>
            <a:r>
              <a:rPr sz="2925" b="0" dirty="0" err="1">
                <a:solidFill>
                  <a:srgbClr val="193B22"/>
                </a:solidFill>
              </a:rPr>
              <a:t>촬영하거나</a:t>
            </a:r>
            <a:r>
              <a:rPr sz="2925" b="0" dirty="0">
                <a:solidFill>
                  <a:srgbClr val="193B22"/>
                </a:solidFill>
              </a:rPr>
              <a:t> </a:t>
            </a:r>
            <a:r>
              <a:rPr sz="2925" b="0" dirty="0" err="1">
                <a:solidFill>
                  <a:srgbClr val="193B22"/>
                </a:solidFill>
              </a:rPr>
              <a:t>업로드</a:t>
            </a:r>
            <a:endParaRPr sz="2925" b="0" dirty="0">
              <a:solidFill>
                <a:srgbClr val="193B22"/>
              </a:solidFill>
            </a:endParaRPr>
          </a:p>
        </p:txBody>
      </p:sp>
      <p:sp>
        <p:nvSpPr>
          <p:cNvPr id="40" name="GP_arrow0">
            <a:extLst>
              <a:ext uri="{FF2B5EF4-FFF2-40B4-BE49-F238E27FC236}">
                <a16:creationId xmlns:a16="http://schemas.microsoft.com/office/drawing/2014/main" id="{713F43C1-5075-4F35-80EE-F88162637F98}"/>
              </a:ext>
            </a:extLst>
          </p:cNvPr>
          <p:cNvSpPr>
            <a:spLocks noGrp="1"/>
          </p:cNvSpPr>
          <p:nvPr/>
        </p:nvSpPr>
        <p:spPr>
          <a:xfrm>
            <a:off x="5905500" y="252317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775" b="1">
                <a:solidFill>
                  <a:srgbClr val="288D26"/>
                </a:solidFill>
              </a:defRPr>
            </a:defPPr>
          </a:lstStyle>
          <a:p>
            <a:pPr algn="ctr">
              <a:defRPr sz="2775" b="1">
                <a:solidFill>
                  <a:srgbClr val="288D26"/>
                </a:solidFill>
              </a:defRPr>
            </a:pPr>
            <a:r>
              <a:rPr sz="2775" b="1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1" name="GP_flow1">
            <a:extLst>
              <a:ext uri="{FF2B5EF4-FFF2-40B4-BE49-F238E27FC236}">
                <a16:creationId xmlns:a16="http://schemas.microsoft.com/office/drawing/2014/main" id="{748718D6-BCED-4EA4-B72D-117042C64244}"/>
              </a:ext>
            </a:extLst>
          </p:cNvPr>
          <p:cNvSpPr>
            <a:spLocks noGrp="1"/>
          </p:cNvSpPr>
          <p:nvPr/>
        </p:nvSpPr>
        <p:spPr>
          <a:xfrm>
            <a:off x="1952625" y="25574625"/>
            <a:ext cx="8953500" cy="1066800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42" name="GP_step1">
            <a:extLst>
              <a:ext uri="{FF2B5EF4-FFF2-40B4-BE49-F238E27FC236}">
                <a16:creationId xmlns:a16="http://schemas.microsoft.com/office/drawing/2014/main" id="{17315930-F7C4-4B6B-A9D0-9529518DC47F}"/>
              </a:ext>
            </a:extLst>
          </p:cNvPr>
          <p:cNvSpPr>
            <a:spLocks noGrp="1"/>
          </p:cNvSpPr>
          <p:nvPr/>
        </p:nvSpPr>
        <p:spPr>
          <a:xfrm>
            <a:off x="2143125" y="25622250"/>
            <a:ext cx="3714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288D26"/>
                </a:solidFill>
              </a:defRPr>
            </a:defPPr>
          </a:lstStyle>
          <a:p>
            <a:pPr algn="l">
              <a:defRPr sz="3300" b="1">
                <a:solidFill>
                  <a:srgbClr val="288D26"/>
                </a:solidFill>
              </a:defRPr>
            </a:pPr>
            <a:r>
              <a:rPr sz="3300" b="1">
                <a:solidFill>
                  <a:srgbClr val="288D26"/>
                </a:solidFill>
              </a:rPr>
              <a:t>02  AI 품목 분류</a:t>
            </a:r>
          </a:p>
        </p:txBody>
      </p:sp>
      <p:sp>
        <p:nvSpPr>
          <p:cNvPr id="43" name="GP_desc1">
            <a:extLst>
              <a:ext uri="{FF2B5EF4-FFF2-40B4-BE49-F238E27FC236}">
                <a16:creationId xmlns:a16="http://schemas.microsoft.com/office/drawing/2014/main" id="{17175A29-EA7C-4C58-835A-DF01425F6E23}"/>
              </a:ext>
            </a:extLst>
          </p:cNvPr>
          <p:cNvSpPr>
            <a:spLocks noGrp="1"/>
          </p:cNvSpPr>
          <p:nvPr/>
        </p:nvSpPr>
        <p:spPr>
          <a:xfrm>
            <a:off x="5953125" y="25622250"/>
            <a:ext cx="4810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925" b="0">
                <a:solidFill>
                  <a:srgbClr val="193B22"/>
                </a:solidFill>
              </a:defRPr>
            </a:defPPr>
          </a:lstStyle>
          <a:p>
            <a:pPr algn="l">
              <a:defRPr sz="2925" b="0">
                <a:solidFill>
                  <a:srgbClr val="193B22"/>
                </a:solidFill>
              </a:defRPr>
            </a:pPr>
            <a:r>
              <a:rPr sz="2925" b="0">
                <a:solidFill>
                  <a:srgbClr val="193B22"/>
                </a:solidFill>
              </a:rPr>
              <a:t>이미지 분석 후 재질 판별</a:t>
            </a:r>
          </a:p>
        </p:txBody>
      </p:sp>
      <p:sp>
        <p:nvSpPr>
          <p:cNvPr id="44" name="GP_arrow1">
            <a:extLst>
              <a:ext uri="{FF2B5EF4-FFF2-40B4-BE49-F238E27FC236}">
                <a16:creationId xmlns:a16="http://schemas.microsoft.com/office/drawing/2014/main" id="{F62F2E0B-05A9-4F92-BDFC-27454100B36A}"/>
              </a:ext>
            </a:extLst>
          </p:cNvPr>
          <p:cNvSpPr>
            <a:spLocks noGrp="1"/>
          </p:cNvSpPr>
          <p:nvPr/>
        </p:nvSpPr>
        <p:spPr>
          <a:xfrm>
            <a:off x="5905500" y="266319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775" b="1">
                <a:solidFill>
                  <a:srgbClr val="288D26"/>
                </a:solidFill>
              </a:defRPr>
            </a:defPPr>
          </a:lstStyle>
          <a:p>
            <a:pPr algn="ctr">
              <a:defRPr sz="2775" b="1">
                <a:solidFill>
                  <a:srgbClr val="288D26"/>
                </a:solidFill>
              </a:defRPr>
            </a:pPr>
            <a:r>
              <a:rPr sz="2775" b="1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5" name="GP_flow2">
            <a:extLst>
              <a:ext uri="{FF2B5EF4-FFF2-40B4-BE49-F238E27FC236}">
                <a16:creationId xmlns:a16="http://schemas.microsoft.com/office/drawing/2014/main" id="{4B8F078D-CFDE-4341-B418-5B3255FCB6C9}"/>
              </a:ext>
            </a:extLst>
          </p:cNvPr>
          <p:cNvSpPr>
            <a:spLocks noGrp="1"/>
          </p:cNvSpPr>
          <p:nvPr/>
        </p:nvSpPr>
        <p:spPr>
          <a:xfrm>
            <a:off x="1952625" y="26974800"/>
            <a:ext cx="8953500" cy="1066800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46" name="GP_step2">
            <a:extLst>
              <a:ext uri="{FF2B5EF4-FFF2-40B4-BE49-F238E27FC236}">
                <a16:creationId xmlns:a16="http://schemas.microsoft.com/office/drawing/2014/main" id="{E72D2375-2E7F-4305-BEB2-B946AA7DD84E}"/>
              </a:ext>
            </a:extLst>
          </p:cNvPr>
          <p:cNvSpPr>
            <a:spLocks noGrp="1"/>
          </p:cNvSpPr>
          <p:nvPr/>
        </p:nvSpPr>
        <p:spPr>
          <a:xfrm>
            <a:off x="2143125" y="27022425"/>
            <a:ext cx="3714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288D26"/>
                </a:solidFill>
              </a:defRPr>
            </a:defPPr>
          </a:lstStyle>
          <a:p>
            <a:pPr algn="l">
              <a:defRPr sz="3300" b="1">
                <a:solidFill>
                  <a:srgbClr val="288D26"/>
                </a:solidFill>
              </a:defRPr>
            </a:pPr>
            <a:r>
              <a:rPr sz="3300" b="1">
                <a:solidFill>
                  <a:srgbClr val="288D26"/>
                </a:solidFill>
              </a:rPr>
              <a:t>03  배출 방법 안내</a:t>
            </a:r>
          </a:p>
        </p:txBody>
      </p:sp>
      <p:sp>
        <p:nvSpPr>
          <p:cNvPr id="47" name="GP_desc2">
            <a:extLst>
              <a:ext uri="{FF2B5EF4-FFF2-40B4-BE49-F238E27FC236}">
                <a16:creationId xmlns:a16="http://schemas.microsoft.com/office/drawing/2014/main" id="{C5459CCE-D91D-4B29-8830-FAD78A7C1C26}"/>
              </a:ext>
            </a:extLst>
          </p:cNvPr>
          <p:cNvSpPr>
            <a:spLocks noGrp="1"/>
          </p:cNvSpPr>
          <p:nvPr/>
        </p:nvSpPr>
        <p:spPr>
          <a:xfrm>
            <a:off x="5953125" y="27022425"/>
            <a:ext cx="4810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925" b="0">
                <a:solidFill>
                  <a:srgbClr val="193B22"/>
                </a:solidFill>
              </a:defRPr>
            </a:defPPr>
          </a:lstStyle>
          <a:p>
            <a:pPr algn="l">
              <a:defRPr sz="2925" b="0">
                <a:solidFill>
                  <a:srgbClr val="193B22"/>
                </a:solidFill>
              </a:defRPr>
            </a:pPr>
            <a:r>
              <a:rPr sz="2925" b="0">
                <a:solidFill>
                  <a:srgbClr val="193B22"/>
                </a:solidFill>
              </a:rPr>
              <a:t>세척·라벨 제거 방법 확인</a:t>
            </a:r>
          </a:p>
        </p:txBody>
      </p:sp>
      <p:sp>
        <p:nvSpPr>
          <p:cNvPr id="48" name="GP_arrow2">
            <a:extLst>
              <a:ext uri="{FF2B5EF4-FFF2-40B4-BE49-F238E27FC236}">
                <a16:creationId xmlns:a16="http://schemas.microsoft.com/office/drawing/2014/main" id="{0D25C54A-89C2-441A-96C2-8243C751A326}"/>
              </a:ext>
            </a:extLst>
          </p:cNvPr>
          <p:cNvSpPr>
            <a:spLocks noGrp="1"/>
          </p:cNvSpPr>
          <p:nvPr/>
        </p:nvSpPr>
        <p:spPr>
          <a:xfrm>
            <a:off x="5905500" y="2803207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775" b="1">
                <a:solidFill>
                  <a:srgbClr val="288D26"/>
                </a:solidFill>
              </a:defRPr>
            </a:defPPr>
          </a:lstStyle>
          <a:p>
            <a:pPr algn="ctr">
              <a:defRPr sz="2775" b="1">
                <a:solidFill>
                  <a:srgbClr val="288D26"/>
                </a:solidFill>
              </a:defRPr>
            </a:pPr>
            <a:r>
              <a:rPr sz="2775" b="1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9" name="GP_flow3">
            <a:extLst>
              <a:ext uri="{FF2B5EF4-FFF2-40B4-BE49-F238E27FC236}">
                <a16:creationId xmlns:a16="http://schemas.microsoft.com/office/drawing/2014/main" id="{FDB37C9A-80E4-422E-B931-B56845B44271}"/>
              </a:ext>
            </a:extLst>
          </p:cNvPr>
          <p:cNvSpPr>
            <a:spLocks noGrp="1"/>
          </p:cNvSpPr>
          <p:nvPr/>
        </p:nvSpPr>
        <p:spPr>
          <a:xfrm>
            <a:off x="1952625" y="28374975"/>
            <a:ext cx="8953500" cy="1066800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50" name="GP_step3">
            <a:extLst>
              <a:ext uri="{FF2B5EF4-FFF2-40B4-BE49-F238E27FC236}">
                <a16:creationId xmlns:a16="http://schemas.microsoft.com/office/drawing/2014/main" id="{C48182CD-C70F-4566-AD94-98EE8401C99B}"/>
              </a:ext>
            </a:extLst>
          </p:cNvPr>
          <p:cNvSpPr>
            <a:spLocks noGrp="1"/>
          </p:cNvSpPr>
          <p:nvPr/>
        </p:nvSpPr>
        <p:spPr>
          <a:xfrm>
            <a:off x="2143125" y="28422600"/>
            <a:ext cx="3714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288D26"/>
                </a:solidFill>
              </a:defRPr>
            </a:defPPr>
          </a:lstStyle>
          <a:p>
            <a:pPr algn="l">
              <a:defRPr sz="3300" b="1">
                <a:solidFill>
                  <a:srgbClr val="288D26"/>
                </a:solidFill>
              </a:defRPr>
            </a:pPr>
            <a:r>
              <a:rPr sz="3300" b="1">
                <a:solidFill>
                  <a:srgbClr val="288D26"/>
                </a:solidFill>
              </a:rPr>
              <a:t>04  활동 기록 저장</a:t>
            </a:r>
          </a:p>
        </p:txBody>
      </p:sp>
      <p:sp>
        <p:nvSpPr>
          <p:cNvPr id="51" name="GP_desc3">
            <a:extLst>
              <a:ext uri="{FF2B5EF4-FFF2-40B4-BE49-F238E27FC236}">
                <a16:creationId xmlns:a16="http://schemas.microsoft.com/office/drawing/2014/main" id="{C00CA8AA-14F1-40E9-A1A3-35AD55BB7C65}"/>
              </a:ext>
            </a:extLst>
          </p:cNvPr>
          <p:cNvSpPr>
            <a:spLocks noGrp="1"/>
          </p:cNvSpPr>
          <p:nvPr/>
        </p:nvSpPr>
        <p:spPr>
          <a:xfrm>
            <a:off x="5953125" y="28422600"/>
            <a:ext cx="4810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925" b="0">
                <a:solidFill>
                  <a:srgbClr val="193B22"/>
                </a:solidFill>
              </a:defRPr>
            </a:defPPr>
          </a:lstStyle>
          <a:p>
            <a:pPr algn="l">
              <a:defRPr sz="2925" b="0">
                <a:solidFill>
                  <a:srgbClr val="193B22"/>
                </a:solidFill>
              </a:defRPr>
            </a:pPr>
            <a:r>
              <a:rPr sz="2925" b="0">
                <a:solidFill>
                  <a:srgbClr val="193B22"/>
                </a:solidFill>
              </a:rPr>
              <a:t>배출 이력과 포인트 적립</a:t>
            </a:r>
          </a:p>
        </p:txBody>
      </p:sp>
      <p:sp>
        <p:nvSpPr>
          <p:cNvPr id="52" name="GP_system-caption">
            <a:extLst>
              <a:ext uri="{FF2B5EF4-FFF2-40B4-BE49-F238E27FC236}">
                <a16:creationId xmlns:a16="http://schemas.microsoft.com/office/drawing/2014/main" id="{22DF959C-1A93-4EF4-80C1-F1899588166E}"/>
              </a:ext>
            </a:extLst>
          </p:cNvPr>
          <p:cNvSpPr>
            <a:spLocks noGrp="1"/>
          </p:cNvSpPr>
          <p:nvPr/>
        </p:nvSpPr>
        <p:spPr>
          <a:xfrm>
            <a:off x="12301678" y="29998704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925" b="0">
                <a:solidFill>
                  <a:srgbClr val="288D26"/>
                </a:solidFill>
              </a:defRPr>
            </a:defPPr>
          </a:lstStyle>
          <a:p>
            <a:pPr algn="ctr">
              <a:defRPr sz="2925" b="0">
                <a:solidFill>
                  <a:srgbClr val="288D26"/>
                </a:solidFill>
              </a:defRPr>
            </a:pPr>
            <a:r>
              <a:rPr sz="2925" b="0" dirty="0" err="1">
                <a:solidFill>
                  <a:srgbClr val="288D26"/>
                </a:solidFill>
              </a:rPr>
              <a:t>촬영부터</a:t>
            </a:r>
            <a:r>
              <a:rPr sz="2925" b="0" dirty="0">
                <a:solidFill>
                  <a:srgbClr val="288D26"/>
                </a:solidFill>
              </a:rPr>
              <a:t> </a:t>
            </a:r>
            <a:r>
              <a:rPr sz="2925" b="0" dirty="0" err="1">
                <a:solidFill>
                  <a:srgbClr val="288D26"/>
                </a:solidFill>
              </a:rPr>
              <a:t>배출</a:t>
            </a:r>
            <a:r>
              <a:rPr sz="2925" b="0" dirty="0">
                <a:solidFill>
                  <a:srgbClr val="288D26"/>
                </a:solidFill>
              </a:rPr>
              <a:t> </a:t>
            </a:r>
            <a:r>
              <a:rPr sz="2925" b="0" dirty="0" err="1">
                <a:solidFill>
                  <a:srgbClr val="288D26"/>
                </a:solidFill>
              </a:rPr>
              <a:t>기록까지</a:t>
            </a:r>
            <a:r>
              <a:rPr sz="2925" b="0" dirty="0">
                <a:solidFill>
                  <a:srgbClr val="288D26"/>
                </a:solidFill>
              </a:rPr>
              <a:t> 한 </a:t>
            </a:r>
            <a:r>
              <a:rPr sz="2925" b="0" dirty="0" err="1">
                <a:solidFill>
                  <a:srgbClr val="288D26"/>
                </a:solidFill>
              </a:rPr>
              <a:t>번에</a:t>
            </a:r>
            <a:r>
              <a:rPr sz="2925" b="0" dirty="0">
                <a:solidFill>
                  <a:srgbClr val="288D26"/>
                </a:solidFill>
              </a:rPr>
              <a:t> </a:t>
            </a:r>
            <a:r>
              <a:rPr sz="2925" b="0" dirty="0" err="1">
                <a:solidFill>
                  <a:srgbClr val="288D26"/>
                </a:solidFill>
              </a:rPr>
              <a:t>관리</a:t>
            </a:r>
            <a:endParaRPr sz="2925" b="0" dirty="0">
              <a:solidFill>
                <a:srgbClr val="288D26"/>
              </a:solidFill>
            </a:endParaRPr>
          </a:p>
        </p:txBody>
      </p:sp>
      <p:sp>
        <p:nvSpPr>
          <p:cNvPr id="53" name="GP_screen0">
            <a:extLst>
              <a:ext uri="{FF2B5EF4-FFF2-40B4-BE49-F238E27FC236}">
                <a16:creationId xmlns:a16="http://schemas.microsoft.com/office/drawing/2014/main" id="{FA19DD21-B3C0-43AB-9A13-D51A2A80A149}"/>
              </a:ext>
            </a:extLst>
          </p:cNvPr>
          <p:cNvSpPr>
            <a:spLocks noGrp="1"/>
          </p:cNvSpPr>
          <p:nvPr/>
        </p:nvSpPr>
        <p:spPr>
          <a:xfrm>
            <a:off x="1952625" y="31842075"/>
            <a:ext cx="6667500" cy="3381375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AAD49D"/>
            </a:solidFill>
            <a:prstDash val="solid"/>
          </a:ln>
        </p:spPr>
      </p:sp>
      <p:sp>
        <p:nvSpPr>
          <p:cNvPr id="54" name="GP_screenhead0">
            <a:extLst>
              <a:ext uri="{FF2B5EF4-FFF2-40B4-BE49-F238E27FC236}">
                <a16:creationId xmlns:a16="http://schemas.microsoft.com/office/drawing/2014/main" id="{235923CB-5CD5-4561-8AB2-AC435E74DAF6}"/>
              </a:ext>
            </a:extLst>
          </p:cNvPr>
          <p:cNvSpPr>
            <a:spLocks noGrp="1"/>
          </p:cNvSpPr>
          <p:nvPr/>
        </p:nvSpPr>
        <p:spPr>
          <a:xfrm>
            <a:off x="2095500" y="31689980"/>
            <a:ext cx="6381750" cy="619125"/>
          </a:xfrm>
          <a:prstGeom prst="rect">
            <a:avLst/>
          </a:prstGeom>
          <a:solidFill>
            <a:srgbClr val="288D26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3375" b="1">
                <a:solidFill>
                  <a:srgbClr val="FFFFFF"/>
                </a:solidFill>
              </a:defRPr>
            </a:defPPr>
          </a:lstStyle>
          <a:p>
            <a:pPr algn="ctr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촬영하기</a:t>
            </a:r>
          </a:p>
        </p:txBody>
      </p:sp>
      <p:sp>
        <p:nvSpPr>
          <p:cNvPr id="55" name="GP_screenline0">
            <a:extLst>
              <a:ext uri="{FF2B5EF4-FFF2-40B4-BE49-F238E27FC236}">
                <a16:creationId xmlns:a16="http://schemas.microsoft.com/office/drawing/2014/main" id="{9DD66C0F-FBB7-4DEE-BADA-C4AF8DBAD865}"/>
              </a:ext>
            </a:extLst>
          </p:cNvPr>
          <p:cNvSpPr>
            <a:spLocks noGrp="1"/>
          </p:cNvSpPr>
          <p:nvPr/>
        </p:nvSpPr>
        <p:spPr>
          <a:xfrm>
            <a:off x="2257425" y="32499605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775" b="0">
                <a:solidFill>
                  <a:srgbClr val="193B22"/>
                </a:solidFill>
              </a:defRPr>
            </a:defPPr>
          </a:lstStyle>
          <a:p>
            <a:pPr algn="l">
              <a:defRPr sz="2775" b="0">
                <a:solidFill>
                  <a:srgbClr val="193B22"/>
                </a:solidFill>
              </a:defRPr>
            </a:pPr>
            <a:r>
              <a:rPr sz="2775" b="0">
                <a:solidFill>
                  <a:srgbClr val="193B22"/>
                </a:solidFill>
              </a:rPr>
              <a:t>분리배출할 품목을 촬영하세요</a:t>
            </a:r>
          </a:p>
        </p:txBody>
      </p:sp>
      <p:sp>
        <p:nvSpPr>
          <p:cNvPr id="56" name="GP_screenmid0">
            <a:extLst>
              <a:ext uri="{FF2B5EF4-FFF2-40B4-BE49-F238E27FC236}">
                <a16:creationId xmlns:a16="http://schemas.microsoft.com/office/drawing/2014/main" id="{9C99AA9F-3546-4191-BFAA-E1DFDE32C09F}"/>
              </a:ext>
            </a:extLst>
          </p:cNvPr>
          <p:cNvSpPr>
            <a:spLocks noGrp="1"/>
          </p:cNvSpPr>
          <p:nvPr/>
        </p:nvSpPr>
        <p:spPr>
          <a:xfrm>
            <a:off x="2257425" y="33118730"/>
            <a:ext cx="6096000" cy="704850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3225" b="1">
                <a:solidFill>
                  <a:srgbClr val="288D26"/>
                </a:solidFill>
              </a:defRPr>
            </a:defPPr>
          </a:lstStyle>
          <a:p>
            <a:pPr algn="ctr">
              <a:defRPr sz="3225" b="1">
                <a:solidFill>
                  <a:srgbClr val="288D26"/>
                </a:solidFill>
              </a:defRPr>
            </a:pPr>
            <a:r>
              <a:rPr sz="3225" b="1">
                <a:solidFill>
                  <a:srgbClr val="288D26"/>
                </a:solidFill>
              </a:rPr>
              <a:t>페트병 촬영 영역</a:t>
            </a:r>
          </a:p>
        </p:txBody>
      </p:sp>
      <p:sp>
        <p:nvSpPr>
          <p:cNvPr id="57" name="GP_screenfoot0">
            <a:extLst>
              <a:ext uri="{FF2B5EF4-FFF2-40B4-BE49-F238E27FC236}">
                <a16:creationId xmlns:a16="http://schemas.microsoft.com/office/drawing/2014/main" id="{53E4D2BD-6DD0-4FBC-9390-D1987465B81D}"/>
              </a:ext>
            </a:extLst>
          </p:cNvPr>
          <p:cNvSpPr>
            <a:spLocks noGrp="1"/>
          </p:cNvSpPr>
          <p:nvPr/>
        </p:nvSpPr>
        <p:spPr>
          <a:xfrm>
            <a:off x="2181225" y="34118855"/>
            <a:ext cx="621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625" b="0">
                <a:solidFill>
                  <a:srgbClr val="193B22"/>
                </a:solidFill>
              </a:defRPr>
            </a:defPPr>
          </a:lstStyle>
          <a:p>
            <a:pPr algn="ctr">
              <a:defRPr sz="2625" b="0">
                <a:solidFill>
                  <a:srgbClr val="193B22"/>
                </a:solidFill>
              </a:defRPr>
            </a:pPr>
            <a:r>
              <a:rPr sz="2625" b="0">
                <a:solidFill>
                  <a:srgbClr val="193B22"/>
                </a:solidFill>
              </a:rPr>
              <a:t>사진 분석하기</a:t>
            </a:r>
          </a:p>
        </p:txBody>
      </p:sp>
      <p:sp>
        <p:nvSpPr>
          <p:cNvPr id="58" name="GP_screen1">
            <a:extLst>
              <a:ext uri="{FF2B5EF4-FFF2-40B4-BE49-F238E27FC236}">
                <a16:creationId xmlns:a16="http://schemas.microsoft.com/office/drawing/2014/main" id="{5EE1EA36-F4FA-466E-BE8F-A1AC533BCBFE}"/>
              </a:ext>
            </a:extLst>
          </p:cNvPr>
          <p:cNvSpPr>
            <a:spLocks noGrp="1"/>
          </p:cNvSpPr>
          <p:nvPr/>
        </p:nvSpPr>
        <p:spPr>
          <a:xfrm>
            <a:off x="9191625" y="31842075"/>
            <a:ext cx="6667500" cy="3381375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AAD49D"/>
            </a:solidFill>
            <a:prstDash val="solid"/>
          </a:ln>
        </p:spPr>
      </p:sp>
      <p:sp>
        <p:nvSpPr>
          <p:cNvPr id="59" name="GP_screenhead1">
            <a:extLst>
              <a:ext uri="{FF2B5EF4-FFF2-40B4-BE49-F238E27FC236}">
                <a16:creationId xmlns:a16="http://schemas.microsoft.com/office/drawing/2014/main" id="{D2FBAE81-F187-4D85-B2DB-2C03D921394E}"/>
              </a:ext>
            </a:extLst>
          </p:cNvPr>
          <p:cNvSpPr>
            <a:spLocks noGrp="1"/>
          </p:cNvSpPr>
          <p:nvPr/>
        </p:nvSpPr>
        <p:spPr>
          <a:xfrm>
            <a:off x="9334500" y="31689980"/>
            <a:ext cx="6381750" cy="619125"/>
          </a:xfrm>
          <a:prstGeom prst="rect">
            <a:avLst/>
          </a:prstGeom>
          <a:solidFill>
            <a:srgbClr val="288D26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3375" b="1">
                <a:solidFill>
                  <a:srgbClr val="FFFFFF"/>
                </a:solidFill>
              </a:defRPr>
            </a:defPPr>
          </a:lstStyle>
          <a:p>
            <a:pPr algn="ctr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분석 결과</a:t>
            </a:r>
          </a:p>
        </p:txBody>
      </p:sp>
      <p:sp>
        <p:nvSpPr>
          <p:cNvPr id="60" name="GP_screenline1">
            <a:extLst>
              <a:ext uri="{FF2B5EF4-FFF2-40B4-BE49-F238E27FC236}">
                <a16:creationId xmlns:a16="http://schemas.microsoft.com/office/drawing/2014/main" id="{89CE639C-DE7D-4054-9539-84D80B32F179}"/>
              </a:ext>
            </a:extLst>
          </p:cNvPr>
          <p:cNvSpPr>
            <a:spLocks noGrp="1"/>
          </p:cNvSpPr>
          <p:nvPr/>
        </p:nvSpPr>
        <p:spPr>
          <a:xfrm>
            <a:off x="9496425" y="32499605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775" b="0">
                <a:solidFill>
                  <a:srgbClr val="193B22"/>
                </a:solidFill>
              </a:defRPr>
            </a:defPPr>
          </a:lstStyle>
          <a:p>
            <a:pPr algn="l">
              <a:defRPr sz="2775" b="0">
                <a:solidFill>
                  <a:srgbClr val="193B22"/>
                </a:solidFill>
              </a:defRPr>
            </a:pPr>
            <a:r>
              <a:rPr sz="2775" b="0">
                <a:solidFill>
                  <a:srgbClr val="193B22"/>
                </a:solidFill>
              </a:rPr>
              <a:t>인식 결과  페트병</a:t>
            </a:r>
          </a:p>
        </p:txBody>
      </p:sp>
      <p:sp>
        <p:nvSpPr>
          <p:cNvPr id="61" name="GP_screenmid1">
            <a:extLst>
              <a:ext uri="{FF2B5EF4-FFF2-40B4-BE49-F238E27FC236}">
                <a16:creationId xmlns:a16="http://schemas.microsoft.com/office/drawing/2014/main" id="{ED94C59D-1E09-422A-9E66-BFEB35268181}"/>
              </a:ext>
            </a:extLst>
          </p:cNvPr>
          <p:cNvSpPr>
            <a:spLocks noGrp="1"/>
          </p:cNvSpPr>
          <p:nvPr/>
        </p:nvSpPr>
        <p:spPr>
          <a:xfrm>
            <a:off x="9496425" y="33118730"/>
            <a:ext cx="6096000" cy="704850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3225" b="1">
                <a:solidFill>
                  <a:srgbClr val="288D26"/>
                </a:solidFill>
              </a:defRPr>
            </a:defPPr>
          </a:lstStyle>
          <a:p>
            <a:pPr algn="ctr">
              <a:defRPr sz="3225" b="1">
                <a:solidFill>
                  <a:srgbClr val="288D26"/>
                </a:solidFill>
              </a:defRPr>
            </a:pPr>
            <a:r>
              <a:rPr sz="3225" b="1">
                <a:solidFill>
                  <a:srgbClr val="288D26"/>
                </a:solidFill>
              </a:rPr>
              <a:t>예시 신뢰도  97%</a:t>
            </a:r>
          </a:p>
        </p:txBody>
      </p:sp>
      <p:sp>
        <p:nvSpPr>
          <p:cNvPr id="62" name="GP_screenfoot1">
            <a:extLst>
              <a:ext uri="{FF2B5EF4-FFF2-40B4-BE49-F238E27FC236}">
                <a16:creationId xmlns:a16="http://schemas.microsoft.com/office/drawing/2014/main" id="{ABA936E3-D815-47EB-B11D-890AD39950A4}"/>
              </a:ext>
            </a:extLst>
          </p:cNvPr>
          <p:cNvSpPr>
            <a:spLocks noGrp="1"/>
          </p:cNvSpPr>
          <p:nvPr/>
        </p:nvSpPr>
        <p:spPr>
          <a:xfrm>
            <a:off x="9420225" y="34118855"/>
            <a:ext cx="621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625" b="0">
                <a:solidFill>
                  <a:srgbClr val="193B22"/>
                </a:solidFill>
              </a:defRPr>
            </a:defPPr>
          </a:lstStyle>
          <a:p>
            <a:pPr algn="ctr">
              <a:defRPr sz="2625" b="0">
                <a:solidFill>
                  <a:srgbClr val="193B22"/>
                </a:solidFill>
              </a:defRPr>
            </a:pPr>
            <a:r>
              <a:rPr sz="2625" b="0">
                <a:solidFill>
                  <a:srgbClr val="193B22"/>
                </a:solidFill>
              </a:rPr>
              <a:t>라벨 제거  /  세척  /  압착</a:t>
            </a:r>
          </a:p>
        </p:txBody>
      </p:sp>
      <p:sp>
        <p:nvSpPr>
          <p:cNvPr id="63" name="GP_screen2">
            <a:extLst>
              <a:ext uri="{FF2B5EF4-FFF2-40B4-BE49-F238E27FC236}">
                <a16:creationId xmlns:a16="http://schemas.microsoft.com/office/drawing/2014/main" id="{105E34A1-2876-48F3-8C46-8EBDC2652110}"/>
              </a:ext>
            </a:extLst>
          </p:cNvPr>
          <p:cNvSpPr>
            <a:spLocks noGrp="1"/>
          </p:cNvSpPr>
          <p:nvPr/>
        </p:nvSpPr>
        <p:spPr>
          <a:xfrm>
            <a:off x="16430625" y="31842075"/>
            <a:ext cx="6667500" cy="3381375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AAD49D"/>
            </a:solidFill>
            <a:prstDash val="solid"/>
          </a:ln>
        </p:spPr>
      </p:sp>
      <p:sp>
        <p:nvSpPr>
          <p:cNvPr id="64" name="GP_screenhead2">
            <a:extLst>
              <a:ext uri="{FF2B5EF4-FFF2-40B4-BE49-F238E27FC236}">
                <a16:creationId xmlns:a16="http://schemas.microsoft.com/office/drawing/2014/main" id="{AD78F872-D0E1-4B37-AD3D-EBCA4EEA175E}"/>
              </a:ext>
            </a:extLst>
          </p:cNvPr>
          <p:cNvSpPr>
            <a:spLocks noGrp="1"/>
          </p:cNvSpPr>
          <p:nvPr/>
        </p:nvSpPr>
        <p:spPr>
          <a:xfrm>
            <a:off x="16573500" y="31689980"/>
            <a:ext cx="6381750" cy="619125"/>
          </a:xfrm>
          <a:prstGeom prst="rect">
            <a:avLst/>
          </a:prstGeom>
          <a:solidFill>
            <a:srgbClr val="288D26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3375" b="1">
                <a:solidFill>
                  <a:srgbClr val="FFFFFF"/>
                </a:solidFill>
              </a:defRPr>
            </a:defPPr>
          </a:lstStyle>
          <a:p>
            <a:pPr algn="ctr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나의 활동</a:t>
            </a:r>
          </a:p>
        </p:txBody>
      </p:sp>
      <p:sp>
        <p:nvSpPr>
          <p:cNvPr id="65" name="GP_screenline2">
            <a:extLst>
              <a:ext uri="{FF2B5EF4-FFF2-40B4-BE49-F238E27FC236}">
                <a16:creationId xmlns:a16="http://schemas.microsoft.com/office/drawing/2014/main" id="{79A8F6F2-B51C-495C-97ED-24E99E938124}"/>
              </a:ext>
            </a:extLst>
          </p:cNvPr>
          <p:cNvSpPr>
            <a:spLocks noGrp="1"/>
          </p:cNvSpPr>
          <p:nvPr/>
        </p:nvSpPr>
        <p:spPr>
          <a:xfrm>
            <a:off x="16735425" y="32499605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775" b="0">
                <a:solidFill>
                  <a:srgbClr val="193B22"/>
                </a:solidFill>
              </a:defRPr>
            </a:defPPr>
          </a:lstStyle>
          <a:p>
            <a:pPr algn="l">
              <a:defRPr sz="2775" b="0">
                <a:solidFill>
                  <a:srgbClr val="193B22"/>
                </a:solidFill>
              </a:defRPr>
            </a:pPr>
            <a:r>
              <a:rPr sz="2775" b="0">
                <a:solidFill>
                  <a:srgbClr val="193B22"/>
                </a:solidFill>
              </a:rPr>
              <a:t>이번 주 분리배출  12회</a:t>
            </a:r>
          </a:p>
        </p:txBody>
      </p:sp>
      <p:sp>
        <p:nvSpPr>
          <p:cNvPr id="66" name="GP_screenmid2">
            <a:extLst>
              <a:ext uri="{FF2B5EF4-FFF2-40B4-BE49-F238E27FC236}">
                <a16:creationId xmlns:a16="http://schemas.microsoft.com/office/drawing/2014/main" id="{FDF92D77-16E9-4E30-A013-4E8218BABA23}"/>
              </a:ext>
            </a:extLst>
          </p:cNvPr>
          <p:cNvSpPr>
            <a:spLocks noGrp="1"/>
          </p:cNvSpPr>
          <p:nvPr/>
        </p:nvSpPr>
        <p:spPr>
          <a:xfrm>
            <a:off x="16735425" y="33118730"/>
            <a:ext cx="6096000" cy="704850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3225" b="1">
                <a:solidFill>
                  <a:srgbClr val="288D26"/>
                </a:solidFill>
              </a:defRPr>
            </a:defPPr>
          </a:lstStyle>
          <a:p>
            <a:pPr algn="ctr">
              <a:defRPr sz="3225" b="1">
                <a:solidFill>
                  <a:srgbClr val="288D26"/>
                </a:solidFill>
              </a:defRPr>
            </a:pPr>
            <a:r>
              <a:rPr sz="3225" b="1">
                <a:solidFill>
                  <a:srgbClr val="288D26"/>
                </a:solidFill>
              </a:rPr>
              <a:t>누적 포인트  240P</a:t>
            </a:r>
          </a:p>
        </p:txBody>
      </p:sp>
      <p:sp>
        <p:nvSpPr>
          <p:cNvPr id="67" name="GP_screenfoot2">
            <a:extLst>
              <a:ext uri="{FF2B5EF4-FFF2-40B4-BE49-F238E27FC236}">
                <a16:creationId xmlns:a16="http://schemas.microsoft.com/office/drawing/2014/main" id="{44ED6B01-18FA-4A54-8DF9-50B1913EB17C}"/>
              </a:ext>
            </a:extLst>
          </p:cNvPr>
          <p:cNvSpPr>
            <a:spLocks noGrp="1"/>
          </p:cNvSpPr>
          <p:nvPr/>
        </p:nvSpPr>
        <p:spPr>
          <a:xfrm>
            <a:off x="16659225" y="34118855"/>
            <a:ext cx="621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625" b="0">
                <a:solidFill>
                  <a:srgbClr val="193B22"/>
                </a:solidFill>
              </a:defRPr>
            </a:defPPr>
          </a:lstStyle>
          <a:p>
            <a:pPr algn="ctr">
              <a:defRPr sz="2625" b="0">
                <a:solidFill>
                  <a:srgbClr val="193B22"/>
                </a:solidFill>
              </a:defRPr>
            </a:pPr>
            <a:r>
              <a:rPr sz="2625" b="0">
                <a:solidFill>
                  <a:srgbClr val="193B22"/>
                </a:solidFill>
              </a:rPr>
              <a:t>주간 참여 목표 달성</a:t>
            </a:r>
          </a:p>
        </p:txBody>
      </p:sp>
      <p:sp>
        <p:nvSpPr>
          <p:cNvPr id="68" name="GP_screen-note">
            <a:extLst>
              <a:ext uri="{FF2B5EF4-FFF2-40B4-BE49-F238E27FC236}">
                <a16:creationId xmlns:a16="http://schemas.microsoft.com/office/drawing/2014/main" id="{D2741AD4-2CA3-4694-BC46-BEA2ECBE6F79}"/>
              </a:ext>
            </a:extLst>
          </p:cNvPr>
          <p:cNvSpPr>
            <a:spLocks noGrp="1"/>
          </p:cNvSpPr>
          <p:nvPr/>
        </p:nvSpPr>
        <p:spPr>
          <a:xfrm>
            <a:off x="1952625" y="35555903"/>
            <a:ext cx="2095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0">
                <a:solidFill>
                  <a:srgbClr val="68746A"/>
                </a:solidFill>
              </a:defRPr>
            </a:defPPr>
          </a:lstStyle>
          <a:p>
            <a:pPr algn="l">
              <a:defRPr sz="2325" b="0">
                <a:solidFill>
                  <a:srgbClr val="68746A"/>
                </a:solidFill>
              </a:defRPr>
            </a:pPr>
            <a:r>
              <a:rPr sz="2325" b="0">
                <a:solidFill>
                  <a:srgbClr val="68746A"/>
                </a:solidFill>
              </a:rPr>
              <a:t>※ 설명용 가상 화면입니다. 인식 결과와 활동 기록은 예시입니다.</a:t>
            </a:r>
          </a:p>
        </p:txBody>
      </p:sp>
      <p:graphicFrame>
        <p:nvGraphicFramePr>
          <p:cNvPr id="69" name="Chart">
            <a:extLst>
              <a:ext uri="{FF2B5EF4-FFF2-40B4-BE49-F238E27FC236}">
                <a16:creationId xmlns:a16="http://schemas.microsoft.com/office/drawing/2014/main" id="{FCCFEBF7-915D-4AE0-92E0-9DFD876AFA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9404248"/>
              </p:ext>
            </p:extLst>
          </p:nvPr>
        </p:nvGraphicFramePr>
        <p:xfrm>
          <a:off x="1809750" y="37318950"/>
          <a:ext cx="10668000" cy="461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0" name="GP_chart-summary">
            <a:extLst>
              <a:ext uri="{FF2B5EF4-FFF2-40B4-BE49-F238E27FC236}">
                <a16:creationId xmlns:a16="http://schemas.microsoft.com/office/drawing/2014/main" id="{01419159-4BE2-49A7-A329-A2C945C9ACBA}"/>
              </a:ext>
            </a:extLst>
          </p:cNvPr>
          <p:cNvSpPr>
            <a:spLocks noGrp="1"/>
          </p:cNvSpPr>
          <p:nvPr/>
        </p:nvSpPr>
        <p:spPr>
          <a:xfrm>
            <a:off x="1952625" y="42190987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288D26"/>
                </a:solidFill>
              </a:defRPr>
            </a:defPPr>
          </a:lstStyle>
          <a:p>
            <a:pPr algn="l">
              <a:defRPr sz="2625" b="1">
                <a:solidFill>
                  <a:srgbClr val="288D26"/>
                </a:solidFill>
              </a:defRPr>
            </a:pPr>
            <a:r>
              <a:rPr sz="2625" b="1">
                <a:solidFill>
                  <a:srgbClr val="288D26"/>
                </a:solidFill>
              </a:rPr>
              <a:t>평균 정확도 94.6%   /   평균 분석 시간 1.2초</a:t>
            </a: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DC8C1E37-4CB9-4FDD-A906-9D0AF78745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337707"/>
              </p:ext>
            </p:extLst>
          </p:nvPr>
        </p:nvGraphicFramePr>
        <p:xfrm>
          <a:off x="13335000" y="37509450"/>
          <a:ext cx="10048875" cy="46672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</a:rPr>
                        <a:t>비교 항목</a:t>
                      </a:r>
                    </a:p>
                  </a:txBody>
                  <a:tcPr>
                    <a:lnL w="9525">
                      <a:solidFill>
                        <a:srgbClr val="B6D9A8"/>
                      </a:solidFill>
                      <a:prstDash val="soli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>
                      <a:solidFill>
                        <a:srgbClr val="B6D9A8"/>
                      </a:solidFill>
                      <a:prstDash val="soli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</a:rPr>
                        <a:t>기존 안내문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>
                      <a:solidFill>
                        <a:srgbClr val="B6D9A8"/>
                      </a:solidFill>
                      <a:prstDash val="soli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</a:rPr>
                        <a:t>그린픽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>
                      <a:solidFill>
                        <a:srgbClr val="B6D9A8"/>
                      </a:solidFill>
                      <a:prstDash val="soli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288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품목 확인</a:t>
                      </a:r>
                    </a:p>
                  </a:txBody>
                  <a:tcPr>
                    <a:lnL w="9525">
                      <a:solidFill>
                        <a:srgbClr val="B6D9A8"/>
                      </a:solidFill>
                      <a:prstDash val="soli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직접 검색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AI 자동 분류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배출 안내</a:t>
                      </a:r>
                    </a:p>
                  </a:txBody>
                  <a:tcPr>
                    <a:lnL w="9525">
                      <a:solidFill>
                        <a:srgbClr val="B6D9A8"/>
                      </a:solidFill>
                      <a:prstDash val="soli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일반 규칙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품목별 순서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참여 관리</a:t>
                      </a:r>
                    </a:p>
                  </a:txBody>
                  <a:tcPr>
                    <a:lnL w="9525">
                      <a:solidFill>
                        <a:srgbClr val="B6D9A8"/>
                      </a:solidFill>
                      <a:prstDash val="soli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기록 어려움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이력·포인트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운영 활용</a:t>
                      </a:r>
                    </a:p>
                  </a:txBody>
                  <a:tcPr>
                    <a:lnL w="9525">
                      <a:solidFill>
                        <a:srgbClr val="B6D9A8"/>
                      </a:solidFill>
                      <a:prstDash val="soli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>
                          <a:solidFill>
                            <a:srgbClr val="193B22"/>
                          </a:solidFill>
                        </a:rPr>
                        <a:t>수작업 집계</a:t>
                      </a: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75" b="0" dirty="0" err="1">
                          <a:solidFill>
                            <a:srgbClr val="193B22"/>
                          </a:solidFill>
                        </a:rPr>
                        <a:t>통계</a:t>
                      </a:r>
                      <a:r>
                        <a:rPr sz="2775" b="0" dirty="0">
                          <a:solidFill>
                            <a:srgbClr val="193B22"/>
                          </a:solidFill>
                        </a:rPr>
                        <a:t> </a:t>
                      </a:r>
                      <a:r>
                        <a:rPr sz="2775" b="0" dirty="0" err="1">
                          <a:solidFill>
                            <a:srgbClr val="193B22"/>
                          </a:solidFill>
                        </a:rPr>
                        <a:t>확인</a:t>
                      </a:r>
                      <a:endParaRPr sz="2775" b="0" dirty="0">
                        <a:solidFill>
                          <a:srgbClr val="193B22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6D9A8"/>
                      </a:solidFill>
                      <a:prstDash val="solid"/>
                    </a:lnR>
                    <a:lnT w="9525" cap="flat" cmpd="sng" algn="ctr">
                      <a:solidFill>
                        <a:srgbClr val="B6D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6D9A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P_comparison-note">
            <a:extLst>
              <a:ext uri="{FF2B5EF4-FFF2-40B4-BE49-F238E27FC236}">
                <a16:creationId xmlns:a16="http://schemas.microsoft.com/office/drawing/2014/main" id="{CF40D19A-0D90-491A-9EAF-6626A72FFA56}"/>
              </a:ext>
            </a:extLst>
          </p:cNvPr>
          <p:cNvSpPr>
            <a:spLocks noGrp="1"/>
          </p:cNvSpPr>
          <p:nvPr/>
        </p:nvSpPr>
        <p:spPr>
          <a:xfrm>
            <a:off x="13277850" y="42248137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0">
                <a:solidFill>
                  <a:srgbClr val="68746A"/>
                </a:solidFill>
              </a:defRPr>
            </a:defPPr>
          </a:lstStyle>
          <a:p>
            <a:pPr algn="l">
              <a:defRPr sz="2325" b="0">
                <a:solidFill>
                  <a:srgbClr val="68746A"/>
                </a:solidFill>
              </a:defRPr>
            </a:pPr>
            <a:r>
              <a:rPr sz="2325" b="0" dirty="0" err="1">
                <a:solidFill>
                  <a:srgbClr val="68746A"/>
                </a:solidFill>
              </a:rPr>
              <a:t>제안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서비스의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기능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구상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비교</a:t>
            </a:r>
            <a:endParaRPr sz="2325" b="0" dirty="0">
              <a:solidFill>
                <a:srgbClr val="68746A"/>
              </a:solidFill>
            </a:endParaRPr>
          </a:p>
        </p:txBody>
      </p:sp>
      <p:sp>
        <p:nvSpPr>
          <p:cNvPr id="73" name="GP_data-note">
            <a:extLst>
              <a:ext uri="{FF2B5EF4-FFF2-40B4-BE49-F238E27FC236}">
                <a16:creationId xmlns:a16="http://schemas.microsoft.com/office/drawing/2014/main" id="{DBEFB343-389F-4FD6-931B-4F978FF40248}"/>
              </a:ext>
            </a:extLst>
          </p:cNvPr>
          <p:cNvSpPr>
            <a:spLocks noGrp="1"/>
          </p:cNvSpPr>
          <p:nvPr/>
        </p:nvSpPr>
        <p:spPr>
          <a:xfrm>
            <a:off x="1952625" y="42995850"/>
            <a:ext cx="2133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0">
                <a:solidFill>
                  <a:srgbClr val="68746A"/>
                </a:solidFill>
              </a:defRPr>
            </a:defPPr>
          </a:lstStyle>
          <a:p>
            <a:pPr algn="l">
              <a:defRPr sz="2325" b="0">
                <a:solidFill>
                  <a:srgbClr val="68746A"/>
                </a:solidFill>
              </a:defRPr>
            </a:pPr>
            <a:r>
              <a:rPr sz="2325" b="0" dirty="0">
                <a:solidFill>
                  <a:srgbClr val="68746A"/>
                </a:solidFill>
              </a:rPr>
              <a:t>※ </a:t>
            </a:r>
            <a:r>
              <a:rPr sz="2325" b="0" dirty="0" err="1">
                <a:solidFill>
                  <a:srgbClr val="68746A"/>
                </a:solidFill>
              </a:rPr>
              <a:t>가상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평가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데이터</a:t>
            </a:r>
            <a:r>
              <a:rPr sz="2325" b="0" dirty="0">
                <a:solidFill>
                  <a:srgbClr val="68746A"/>
                </a:solidFill>
              </a:rPr>
              <a:t>: 5개 </a:t>
            </a:r>
            <a:r>
              <a:rPr sz="2325" b="0" dirty="0" err="1">
                <a:solidFill>
                  <a:srgbClr val="68746A"/>
                </a:solidFill>
              </a:rPr>
              <a:t>품목별</a:t>
            </a:r>
            <a:r>
              <a:rPr sz="2325" b="0" dirty="0">
                <a:solidFill>
                  <a:srgbClr val="68746A"/>
                </a:solidFill>
              </a:rPr>
              <a:t> 100장, 총 500장 중 473장 </a:t>
            </a:r>
            <a:r>
              <a:rPr sz="2325" b="0" dirty="0" err="1">
                <a:solidFill>
                  <a:srgbClr val="68746A"/>
                </a:solidFill>
              </a:rPr>
              <a:t>정분류</a:t>
            </a:r>
            <a:r>
              <a:rPr sz="2325" b="0" dirty="0">
                <a:solidFill>
                  <a:srgbClr val="68746A"/>
                </a:solidFill>
              </a:rPr>
              <a:t>. </a:t>
            </a:r>
            <a:r>
              <a:rPr sz="2325" b="0" dirty="0" err="1">
                <a:solidFill>
                  <a:srgbClr val="68746A"/>
                </a:solidFill>
              </a:rPr>
              <a:t>실제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실험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결과가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아닙니다</a:t>
            </a:r>
            <a:r>
              <a:rPr sz="2325" b="0" dirty="0">
                <a:solidFill>
                  <a:srgbClr val="68746A"/>
                </a:solidFill>
              </a:rPr>
              <a:t>.</a:t>
            </a:r>
          </a:p>
        </p:txBody>
      </p:sp>
      <p:sp>
        <p:nvSpPr>
          <p:cNvPr id="74" name="GP_schedule0">
            <a:extLst>
              <a:ext uri="{FF2B5EF4-FFF2-40B4-BE49-F238E27FC236}">
                <a16:creationId xmlns:a16="http://schemas.microsoft.com/office/drawing/2014/main" id="{35715ED5-8137-4C92-9464-72DD20C48DE5}"/>
              </a:ext>
            </a:extLst>
          </p:cNvPr>
          <p:cNvSpPr>
            <a:spLocks noGrp="1"/>
          </p:cNvSpPr>
          <p:nvPr/>
        </p:nvSpPr>
        <p:spPr>
          <a:xfrm>
            <a:off x="1952625" y="44767500"/>
            <a:ext cx="5048250" cy="1381125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75" name="GP_week0">
            <a:extLst>
              <a:ext uri="{FF2B5EF4-FFF2-40B4-BE49-F238E27FC236}">
                <a16:creationId xmlns:a16="http://schemas.microsoft.com/office/drawing/2014/main" id="{D105AF16-BF2F-4368-881B-F37D0A65D090}"/>
              </a:ext>
            </a:extLst>
          </p:cNvPr>
          <p:cNvSpPr>
            <a:spLocks noGrp="1"/>
          </p:cNvSpPr>
          <p:nvPr/>
        </p:nvSpPr>
        <p:spPr>
          <a:xfrm>
            <a:off x="2143125" y="4486275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225" b="1">
                <a:solidFill>
                  <a:srgbClr val="288D26"/>
                </a:solidFill>
              </a:defRPr>
            </a:defPPr>
          </a:lstStyle>
          <a:p>
            <a:pPr algn="l">
              <a:defRPr sz="3225" b="1">
                <a:solidFill>
                  <a:srgbClr val="288D26"/>
                </a:solidFill>
              </a:defRPr>
            </a:pPr>
            <a:r>
              <a:rPr sz="3225" b="1">
                <a:solidFill>
                  <a:srgbClr val="288D26"/>
                </a:solidFill>
              </a:rPr>
              <a:t>1–2주</a:t>
            </a:r>
          </a:p>
        </p:txBody>
      </p:sp>
      <p:sp>
        <p:nvSpPr>
          <p:cNvPr id="76" name="GP_work0">
            <a:extLst>
              <a:ext uri="{FF2B5EF4-FFF2-40B4-BE49-F238E27FC236}">
                <a16:creationId xmlns:a16="http://schemas.microsoft.com/office/drawing/2014/main" id="{089B1BA9-0156-4BD9-A23D-C87B716F14A5}"/>
              </a:ext>
            </a:extLst>
          </p:cNvPr>
          <p:cNvSpPr>
            <a:spLocks noGrp="1"/>
          </p:cNvSpPr>
          <p:nvPr/>
        </p:nvSpPr>
        <p:spPr>
          <a:xfrm>
            <a:off x="2143125" y="45434250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0">
                <a:solidFill>
                  <a:srgbClr val="193B22"/>
                </a:solidFill>
              </a:defRPr>
            </a:defPPr>
          </a:lstStyle>
          <a:p>
            <a:pPr algn="l">
              <a:defRPr sz="2625" b="0">
                <a:solidFill>
                  <a:srgbClr val="193B22"/>
                </a:solidFill>
              </a:defRPr>
            </a:pPr>
            <a:r>
              <a:rPr sz="2625" b="0">
                <a:solidFill>
                  <a:srgbClr val="193B22"/>
                </a:solidFill>
              </a:rPr>
              <a:t>요구사항·데이터 수집</a:t>
            </a:r>
          </a:p>
        </p:txBody>
      </p:sp>
      <p:sp>
        <p:nvSpPr>
          <p:cNvPr id="77" name="GP_schedule1">
            <a:extLst>
              <a:ext uri="{FF2B5EF4-FFF2-40B4-BE49-F238E27FC236}">
                <a16:creationId xmlns:a16="http://schemas.microsoft.com/office/drawing/2014/main" id="{1776E7F8-AE0E-45D6-A844-7390AD356E50}"/>
              </a:ext>
            </a:extLst>
          </p:cNvPr>
          <p:cNvSpPr>
            <a:spLocks noGrp="1"/>
          </p:cNvSpPr>
          <p:nvPr/>
        </p:nvSpPr>
        <p:spPr>
          <a:xfrm>
            <a:off x="7334250" y="44767500"/>
            <a:ext cx="5048250" cy="1381125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78" name="GP_week1">
            <a:extLst>
              <a:ext uri="{FF2B5EF4-FFF2-40B4-BE49-F238E27FC236}">
                <a16:creationId xmlns:a16="http://schemas.microsoft.com/office/drawing/2014/main" id="{E72B12D4-5326-4284-BD93-5F5135E7D295}"/>
              </a:ext>
            </a:extLst>
          </p:cNvPr>
          <p:cNvSpPr>
            <a:spLocks noGrp="1"/>
          </p:cNvSpPr>
          <p:nvPr/>
        </p:nvSpPr>
        <p:spPr>
          <a:xfrm>
            <a:off x="7524750" y="4486275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225" b="1">
                <a:solidFill>
                  <a:srgbClr val="288D26"/>
                </a:solidFill>
              </a:defRPr>
            </a:defPPr>
          </a:lstStyle>
          <a:p>
            <a:pPr algn="l">
              <a:defRPr sz="3225" b="1">
                <a:solidFill>
                  <a:srgbClr val="288D26"/>
                </a:solidFill>
              </a:defRPr>
            </a:pPr>
            <a:r>
              <a:rPr sz="3225" b="1">
                <a:solidFill>
                  <a:srgbClr val="288D26"/>
                </a:solidFill>
              </a:rPr>
              <a:t>3–4주</a:t>
            </a:r>
          </a:p>
        </p:txBody>
      </p:sp>
      <p:sp>
        <p:nvSpPr>
          <p:cNvPr id="79" name="GP_work1">
            <a:extLst>
              <a:ext uri="{FF2B5EF4-FFF2-40B4-BE49-F238E27FC236}">
                <a16:creationId xmlns:a16="http://schemas.microsoft.com/office/drawing/2014/main" id="{09FBAA6E-0532-4DFB-B3C2-B3E47C19A763}"/>
              </a:ext>
            </a:extLst>
          </p:cNvPr>
          <p:cNvSpPr>
            <a:spLocks noGrp="1"/>
          </p:cNvSpPr>
          <p:nvPr/>
        </p:nvSpPr>
        <p:spPr>
          <a:xfrm>
            <a:off x="7524750" y="45434250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0">
                <a:solidFill>
                  <a:srgbClr val="193B22"/>
                </a:solidFill>
              </a:defRPr>
            </a:defPPr>
          </a:lstStyle>
          <a:p>
            <a:pPr algn="l">
              <a:defRPr sz="2625" b="0">
                <a:solidFill>
                  <a:srgbClr val="193B22"/>
                </a:solidFill>
              </a:defRPr>
            </a:pPr>
            <a:r>
              <a:rPr sz="2625" b="0">
                <a:solidFill>
                  <a:srgbClr val="193B22"/>
                </a:solidFill>
              </a:rPr>
              <a:t>AI 모델·화면 개발</a:t>
            </a:r>
          </a:p>
        </p:txBody>
      </p:sp>
      <p:sp>
        <p:nvSpPr>
          <p:cNvPr id="80" name="GP_schedule2">
            <a:extLst>
              <a:ext uri="{FF2B5EF4-FFF2-40B4-BE49-F238E27FC236}">
                <a16:creationId xmlns:a16="http://schemas.microsoft.com/office/drawing/2014/main" id="{94D15519-EF6E-4054-BF2E-7BE590E96510}"/>
              </a:ext>
            </a:extLst>
          </p:cNvPr>
          <p:cNvSpPr>
            <a:spLocks noGrp="1"/>
          </p:cNvSpPr>
          <p:nvPr/>
        </p:nvSpPr>
        <p:spPr>
          <a:xfrm>
            <a:off x="12715875" y="44767500"/>
            <a:ext cx="5048250" cy="1381125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81" name="GP_week2">
            <a:extLst>
              <a:ext uri="{FF2B5EF4-FFF2-40B4-BE49-F238E27FC236}">
                <a16:creationId xmlns:a16="http://schemas.microsoft.com/office/drawing/2014/main" id="{549156AE-1028-4446-8D5C-6CE6F79FA323}"/>
              </a:ext>
            </a:extLst>
          </p:cNvPr>
          <p:cNvSpPr>
            <a:spLocks noGrp="1"/>
          </p:cNvSpPr>
          <p:nvPr/>
        </p:nvSpPr>
        <p:spPr>
          <a:xfrm>
            <a:off x="12906375" y="4486275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225" b="1">
                <a:solidFill>
                  <a:srgbClr val="288D26"/>
                </a:solidFill>
              </a:defRPr>
            </a:defPPr>
          </a:lstStyle>
          <a:p>
            <a:pPr algn="l">
              <a:defRPr sz="3225" b="1">
                <a:solidFill>
                  <a:srgbClr val="288D26"/>
                </a:solidFill>
              </a:defRPr>
            </a:pPr>
            <a:r>
              <a:rPr sz="3225" b="1">
                <a:solidFill>
                  <a:srgbClr val="288D26"/>
                </a:solidFill>
              </a:rPr>
              <a:t>5–6주</a:t>
            </a:r>
          </a:p>
        </p:txBody>
      </p:sp>
      <p:sp>
        <p:nvSpPr>
          <p:cNvPr id="82" name="GP_work2">
            <a:extLst>
              <a:ext uri="{FF2B5EF4-FFF2-40B4-BE49-F238E27FC236}">
                <a16:creationId xmlns:a16="http://schemas.microsoft.com/office/drawing/2014/main" id="{32F9E4E9-276A-46E7-A1DB-36DC839FF954}"/>
              </a:ext>
            </a:extLst>
          </p:cNvPr>
          <p:cNvSpPr>
            <a:spLocks noGrp="1"/>
          </p:cNvSpPr>
          <p:nvPr/>
        </p:nvSpPr>
        <p:spPr>
          <a:xfrm>
            <a:off x="12906375" y="45434250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0">
                <a:solidFill>
                  <a:srgbClr val="193B22"/>
                </a:solidFill>
              </a:defRPr>
            </a:defPPr>
          </a:lstStyle>
          <a:p>
            <a:pPr algn="l">
              <a:defRPr sz="2625" b="0">
                <a:solidFill>
                  <a:srgbClr val="193B22"/>
                </a:solidFill>
              </a:defRPr>
            </a:pPr>
            <a:r>
              <a:rPr sz="2625" b="0">
                <a:solidFill>
                  <a:srgbClr val="193B22"/>
                </a:solidFill>
              </a:rPr>
              <a:t>서비스 연동·테스트</a:t>
            </a:r>
          </a:p>
        </p:txBody>
      </p:sp>
      <p:sp>
        <p:nvSpPr>
          <p:cNvPr id="83" name="GP_schedule3">
            <a:extLst>
              <a:ext uri="{FF2B5EF4-FFF2-40B4-BE49-F238E27FC236}">
                <a16:creationId xmlns:a16="http://schemas.microsoft.com/office/drawing/2014/main" id="{E6B24A1C-54B2-4715-AA46-42118BA479F4}"/>
              </a:ext>
            </a:extLst>
          </p:cNvPr>
          <p:cNvSpPr>
            <a:spLocks noGrp="1"/>
          </p:cNvSpPr>
          <p:nvPr/>
        </p:nvSpPr>
        <p:spPr>
          <a:xfrm>
            <a:off x="18097500" y="44767500"/>
            <a:ext cx="5048250" cy="1381125"/>
          </a:xfrm>
          <a:prstGeom prst="rect">
            <a:avLst/>
          </a:prstGeom>
          <a:solidFill>
            <a:srgbClr val="EEF8E9"/>
          </a:solidFill>
          <a:ln w="0">
            <a:noFill/>
            <a:prstDash val="solid"/>
          </a:ln>
        </p:spPr>
      </p:sp>
      <p:sp>
        <p:nvSpPr>
          <p:cNvPr id="84" name="GP_week3">
            <a:extLst>
              <a:ext uri="{FF2B5EF4-FFF2-40B4-BE49-F238E27FC236}">
                <a16:creationId xmlns:a16="http://schemas.microsoft.com/office/drawing/2014/main" id="{AA6D158F-736F-48B0-B499-05346F8CBAB9}"/>
              </a:ext>
            </a:extLst>
          </p:cNvPr>
          <p:cNvSpPr>
            <a:spLocks noGrp="1"/>
          </p:cNvSpPr>
          <p:nvPr/>
        </p:nvSpPr>
        <p:spPr>
          <a:xfrm>
            <a:off x="18288000" y="4486275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225" b="1">
                <a:solidFill>
                  <a:srgbClr val="288D26"/>
                </a:solidFill>
              </a:defRPr>
            </a:defPPr>
          </a:lstStyle>
          <a:p>
            <a:pPr algn="l">
              <a:defRPr sz="3225" b="1">
                <a:solidFill>
                  <a:srgbClr val="288D26"/>
                </a:solidFill>
              </a:defRPr>
            </a:pPr>
            <a:r>
              <a:rPr sz="3225" b="1">
                <a:solidFill>
                  <a:srgbClr val="288D26"/>
                </a:solidFill>
              </a:rPr>
              <a:t>7–8주</a:t>
            </a:r>
          </a:p>
        </p:txBody>
      </p:sp>
      <p:sp>
        <p:nvSpPr>
          <p:cNvPr id="85" name="GP_work3">
            <a:extLst>
              <a:ext uri="{FF2B5EF4-FFF2-40B4-BE49-F238E27FC236}">
                <a16:creationId xmlns:a16="http://schemas.microsoft.com/office/drawing/2014/main" id="{9848AB3E-D8DB-4A21-B934-35E394EBFF70}"/>
              </a:ext>
            </a:extLst>
          </p:cNvPr>
          <p:cNvSpPr>
            <a:spLocks noGrp="1"/>
          </p:cNvSpPr>
          <p:nvPr/>
        </p:nvSpPr>
        <p:spPr>
          <a:xfrm>
            <a:off x="18288000" y="45434250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0">
                <a:solidFill>
                  <a:srgbClr val="193B22"/>
                </a:solidFill>
              </a:defRPr>
            </a:defPPr>
          </a:lstStyle>
          <a:p>
            <a:pPr algn="l">
              <a:defRPr sz="2625" b="0">
                <a:solidFill>
                  <a:srgbClr val="193B22"/>
                </a:solidFill>
              </a:defRPr>
            </a:pPr>
            <a:r>
              <a:rPr sz="2625" b="0">
                <a:solidFill>
                  <a:srgbClr val="193B22"/>
                </a:solidFill>
              </a:rPr>
              <a:t>사용성 개선·발표</a:t>
            </a:r>
          </a:p>
        </p:txBody>
      </p:sp>
      <p:sp>
        <p:nvSpPr>
          <p:cNvPr id="86" name="GP_future">
            <a:extLst>
              <a:ext uri="{FF2B5EF4-FFF2-40B4-BE49-F238E27FC236}">
                <a16:creationId xmlns:a16="http://schemas.microsoft.com/office/drawing/2014/main" id="{906DF3C1-D94D-45E4-B55E-C92DB93875C9}"/>
              </a:ext>
            </a:extLst>
          </p:cNvPr>
          <p:cNvSpPr>
            <a:spLocks noGrp="1"/>
          </p:cNvSpPr>
          <p:nvPr/>
        </p:nvSpPr>
        <p:spPr>
          <a:xfrm>
            <a:off x="1952625" y="46482000"/>
            <a:ext cx="2124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000" b="1">
                <a:solidFill>
                  <a:srgbClr val="288D26"/>
                </a:solidFill>
              </a:defRPr>
            </a:defPPr>
          </a:lstStyle>
          <a:p>
            <a:pPr algn="l">
              <a:defRPr sz="3000" b="1">
                <a:solidFill>
                  <a:srgbClr val="288D26"/>
                </a:solidFill>
              </a:defRPr>
            </a:pPr>
            <a:r>
              <a:rPr sz="3000" b="1">
                <a:solidFill>
                  <a:srgbClr val="288D26"/>
                </a:solidFill>
              </a:rPr>
              <a:t>향후 계획  지역별 배출 규칙 연동, 인식 품목 확대, 캠퍼스 시범 운영</a:t>
            </a:r>
          </a:p>
        </p:txBody>
      </p:sp>
      <p:sp>
        <p:nvSpPr>
          <p:cNvPr id="87" name="GP_disclosure">
            <a:extLst>
              <a:ext uri="{FF2B5EF4-FFF2-40B4-BE49-F238E27FC236}">
                <a16:creationId xmlns:a16="http://schemas.microsoft.com/office/drawing/2014/main" id="{383A02A5-DD13-40C8-ADBA-1F881AF72D4F}"/>
              </a:ext>
            </a:extLst>
          </p:cNvPr>
          <p:cNvSpPr>
            <a:spLocks noGrp="1"/>
          </p:cNvSpPr>
          <p:nvPr/>
        </p:nvSpPr>
        <p:spPr>
          <a:xfrm>
            <a:off x="1952625" y="47434500"/>
            <a:ext cx="2114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0">
                <a:solidFill>
                  <a:srgbClr val="68746A"/>
                </a:solidFill>
              </a:defRPr>
            </a:defPPr>
          </a:lstStyle>
          <a:p>
            <a:pPr algn="l">
              <a:defRPr sz="2325" b="0">
                <a:solidFill>
                  <a:srgbClr val="68746A"/>
                </a:solidFill>
              </a:defRPr>
            </a:pPr>
            <a:r>
              <a:rPr sz="2325" b="0" dirty="0">
                <a:solidFill>
                  <a:srgbClr val="68746A"/>
                </a:solidFill>
              </a:rPr>
              <a:t>※ </a:t>
            </a:r>
            <a:r>
              <a:rPr sz="2325" b="0" dirty="0" err="1">
                <a:solidFill>
                  <a:srgbClr val="68746A"/>
                </a:solidFill>
              </a:rPr>
              <a:t>가상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프로젝트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예시입니다</a:t>
            </a:r>
            <a:r>
              <a:rPr sz="2325" b="0" dirty="0">
                <a:solidFill>
                  <a:srgbClr val="68746A"/>
                </a:solidFill>
              </a:rPr>
              <a:t>. </a:t>
            </a:r>
            <a:r>
              <a:rPr sz="2325" b="0" dirty="0" err="1">
                <a:solidFill>
                  <a:srgbClr val="68746A"/>
                </a:solidFill>
              </a:rPr>
              <a:t>팀사진·시스템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그림은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AI로</a:t>
            </a:r>
            <a:r>
              <a:rPr sz="2325" b="0" dirty="0">
                <a:solidFill>
                  <a:srgbClr val="68746A"/>
                </a:solidFill>
              </a:rPr>
              <a:t> </a:t>
            </a:r>
            <a:r>
              <a:rPr sz="2325" b="0" dirty="0" err="1">
                <a:solidFill>
                  <a:srgbClr val="68746A"/>
                </a:solidFill>
              </a:rPr>
              <a:t>생성했습니다</a:t>
            </a:r>
            <a:r>
              <a:rPr sz="2325" b="0" dirty="0">
                <a:solidFill>
                  <a:srgbClr val="68746A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893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4CAE4D-B93C-5B7F-4753-E6960337DEA7}"/>
              </a:ext>
            </a:extLst>
          </p:cNvPr>
          <p:cNvSpPr>
            <a:spLocks noGrp="1"/>
          </p:cNvSpPr>
          <p:nvPr/>
        </p:nvSpPr>
        <p:spPr>
          <a:xfrm>
            <a:off x="1727654" y="4565537"/>
            <a:ext cx="4092121" cy="6224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chemeClr val="bg1"/>
                </a:solidFill>
              </a:rPr>
              <a:t>프로젝트명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89FA6-79CC-0748-672B-CA75A6939ED5}"/>
              </a:ext>
            </a:extLst>
          </p:cNvPr>
          <p:cNvSpPr>
            <a:spLocks noGrp="1"/>
          </p:cNvSpPr>
          <p:nvPr/>
        </p:nvSpPr>
        <p:spPr>
          <a:xfrm>
            <a:off x="2473323" y="5854587"/>
            <a:ext cx="20253328" cy="1373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000" b="1" i="1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프로젝트타이틀넣기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D7156-CCC7-8E70-0D95-8D735CA5FE0E}"/>
              </a:ext>
            </a:extLst>
          </p:cNvPr>
          <p:cNvSpPr>
            <a:spLocks noGrp="1"/>
          </p:cNvSpPr>
          <p:nvPr/>
        </p:nvSpPr>
        <p:spPr>
          <a:xfrm>
            <a:off x="2473323" y="7446168"/>
            <a:ext cx="20253328" cy="608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4000" i="1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“프로젝트를 한문장으로 표현해서 넣기”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E6ABC-3930-99E4-78C4-E5ED7DBA600C}"/>
              </a:ext>
            </a:extLst>
          </p:cNvPr>
          <p:cNvSpPr>
            <a:spLocks noGrp="1"/>
          </p:cNvSpPr>
          <p:nvPr/>
        </p:nvSpPr>
        <p:spPr>
          <a:xfrm>
            <a:off x="1825623" y="9443148"/>
            <a:ext cx="15525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4EEC8-7D19-3E33-8403-B05E6D795AEA}"/>
              </a:ext>
            </a:extLst>
          </p:cNvPr>
          <p:cNvSpPr>
            <a:spLocks noGrp="1"/>
          </p:cNvSpPr>
          <p:nvPr/>
        </p:nvSpPr>
        <p:spPr>
          <a:xfrm>
            <a:off x="1824035" y="11135066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D9EEA-D381-A6F8-A1FB-8A6B7A992195}"/>
              </a:ext>
            </a:extLst>
          </p:cNvPr>
          <p:cNvSpPr>
            <a:spLocks noGrp="1"/>
          </p:cNvSpPr>
          <p:nvPr/>
        </p:nvSpPr>
        <p:spPr>
          <a:xfrm>
            <a:off x="1825623" y="10105929"/>
            <a:ext cx="6165804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5000" b="1" i="1">
                <a:latin typeface="맑은 고딕"/>
                <a:ea typeface="맑은 고딕"/>
                <a:cs typeface="맑은 고딕"/>
              </a:rPr>
              <a:t>팀이름 넣기</a:t>
            </a:r>
          </a:p>
        </p:txBody>
      </p:sp>
      <p:sp>
        <p:nvSpPr>
          <p:cNvPr id="21" name="사각형: 잘린 위쪽 모서리 20">
            <a:extLst>
              <a:ext uri="{FF2B5EF4-FFF2-40B4-BE49-F238E27FC236}">
                <a16:creationId xmlns:a16="http://schemas.microsoft.com/office/drawing/2014/main" id="{BBA1C118-1650-79CF-7D0A-4436592A06FC}"/>
              </a:ext>
            </a:extLst>
          </p:cNvPr>
          <p:cNvSpPr>
            <a:spLocks noGrp="1"/>
          </p:cNvSpPr>
          <p:nvPr/>
        </p:nvSpPr>
        <p:spPr>
          <a:xfrm>
            <a:off x="1115823" y="5211083"/>
            <a:ext cx="22968329" cy="3440792"/>
          </a:xfrm>
          <a:prstGeom prst="snip2SameRect">
            <a:avLst>
              <a:gd name="adj1" fmla="val 9145"/>
              <a:gd name="adj2" fmla="val 9193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115824" y="9126380"/>
            <a:ext cx="12040669" cy="5450830"/>
          </a:xfrm>
          <a:prstGeom prst="snip2SameRect">
            <a:avLst>
              <a:gd name="adj1" fmla="val 13590"/>
              <a:gd name="adj2" fmla="val 12426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D366D-B7C0-57FC-3ADC-A4A8D3C31F54}"/>
              </a:ext>
            </a:extLst>
          </p:cNvPr>
          <p:cNvSpPr>
            <a:spLocks noGrp="1"/>
          </p:cNvSpPr>
          <p:nvPr/>
        </p:nvSpPr>
        <p:spPr>
          <a:xfrm>
            <a:off x="3121024" y="891540"/>
            <a:ext cx="18957926" cy="26768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AI·SW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신기술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3EX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전공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endParaRPr lang="en-US"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  <a:p>
            <a:pPr algn="ctr">
              <a:buNone/>
            </a:pP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프로젝트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발표회</a:t>
            </a:r>
            <a:endParaRPr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9D89C-6DE2-B1F2-83AF-CEE1CA096180}"/>
              </a:ext>
            </a:extLst>
          </p:cNvPr>
          <p:cNvSpPr>
            <a:spLocks noGrp="1"/>
          </p:cNvSpPr>
          <p:nvPr/>
        </p:nvSpPr>
        <p:spPr>
          <a:xfrm>
            <a:off x="9051015" y="9443148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지도교수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flipH="1">
            <a:off x="8506821" y="9373839"/>
            <a:ext cx="28800" cy="1433670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43A27A-448D-77ED-D5AB-C41EE7D79BA3}"/>
              </a:ext>
            </a:extLst>
          </p:cNvPr>
          <p:cNvSpPr>
            <a:spLocks noGrp="1"/>
          </p:cNvSpPr>
          <p:nvPr/>
        </p:nvSpPr>
        <p:spPr>
          <a:xfrm>
            <a:off x="9051015" y="10105929"/>
            <a:ext cx="3979187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5000" b="1" i="1">
                <a:latin typeface="맑은 고딕"/>
                <a:ea typeface="맑은 고딕"/>
                <a:cs typeface="맑은 고딕"/>
              </a:rPr>
              <a:t>홍길동</a:t>
            </a:r>
          </a:p>
        </p:txBody>
      </p:sp>
      <p:sp>
        <p:nvSpPr>
          <p:cNvPr id="33" name="사각형: 잘린 위쪽 모서리 32">
            <a:extLst>
              <a:ext uri="{FF2B5EF4-FFF2-40B4-BE49-F238E27FC236}">
                <a16:creationId xmlns:a16="http://schemas.microsoft.com/office/drawing/2014/main" id="{C626C3AE-3093-BD9D-72B6-CB3997022CE7}"/>
              </a:ext>
            </a:extLst>
          </p:cNvPr>
          <p:cNvSpPr>
            <a:spLocks noGrp="1"/>
          </p:cNvSpPr>
          <p:nvPr/>
        </p:nvSpPr>
        <p:spPr>
          <a:xfrm>
            <a:off x="1115823" y="15051715"/>
            <a:ext cx="22968329" cy="33251827"/>
          </a:xfrm>
          <a:prstGeom prst="snip2SameRect">
            <a:avLst>
              <a:gd name="adj1" fmla="val 1350"/>
              <a:gd name="adj2" fmla="val 1872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3671887" y="9116071"/>
            <a:ext cx="10412265" cy="5461139"/>
          </a:xfrm>
          <a:prstGeom prst="snip2SameRect">
            <a:avLst>
              <a:gd name="adj1" fmla="val 13590"/>
              <a:gd name="adj2" fmla="val 12426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7D9EEA-D381-A6F8-A1FB-8A6B7A992195}"/>
              </a:ext>
            </a:extLst>
          </p:cNvPr>
          <p:cNvSpPr>
            <a:spLocks noGrp="1"/>
          </p:cNvSpPr>
          <p:nvPr/>
        </p:nvSpPr>
        <p:spPr>
          <a:xfrm>
            <a:off x="15795117" y="11535116"/>
            <a:ext cx="6165804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5000" b="1" i="1" dirty="0">
                <a:latin typeface="맑은 고딕"/>
                <a:ea typeface="맑은 고딕"/>
                <a:cs typeface="맑은 고딕"/>
              </a:rPr>
              <a:t>팀 그룹 </a:t>
            </a:r>
            <a:r>
              <a:rPr sz="5000" b="1" i="1" dirty="0" err="1">
                <a:latin typeface="맑은 고딕"/>
                <a:ea typeface="맑은 고딕"/>
                <a:cs typeface="맑은 고딕"/>
              </a:rPr>
              <a:t>사진</a:t>
            </a:r>
            <a:endParaRPr sz="5000" b="1" i="1" dirty="0"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C883AA9-0A18-4B33-852E-F7725CF2224A}"/>
              </a:ext>
            </a:extLst>
          </p:cNvPr>
          <p:cNvGraphicFramePr/>
          <p:nvPr/>
        </p:nvGraphicFramePr>
        <p:xfrm>
          <a:off x="1824035" y="11737967"/>
          <a:ext cx="10600194" cy="27432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5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학과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이름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역할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B43DBC-8080-408F-B64F-84EF01CCC80E}"/>
              </a:ext>
            </a:extLst>
          </p:cNvPr>
          <p:cNvSpPr>
            <a:spLocks noGrp="1"/>
          </p:cNvSpPr>
          <p:nvPr/>
        </p:nvSpPr>
        <p:spPr>
          <a:xfrm>
            <a:off x="1727653" y="16307924"/>
            <a:ext cx="219582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b="1" i="1" dirty="0">
                <a:latin typeface="+mn-ea"/>
                <a:ea typeface="+mn-ea"/>
                <a:cs typeface="+mn-ea"/>
              </a:rPr>
              <a:t>프로젝트 소개</a:t>
            </a:r>
            <a:endParaRPr sz="4000" b="1" i="1" dirty="0">
              <a:latin typeface="+mn-ea"/>
              <a:ea typeface="+mn-ea"/>
              <a:cs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F6888F-04F6-4BFD-B74B-173FCBA6D616}"/>
              </a:ext>
            </a:extLst>
          </p:cNvPr>
          <p:cNvSpPr>
            <a:spLocks noGrp="1"/>
          </p:cNvSpPr>
          <p:nvPr/>
        </p:nvSpPr>
        <p:spPr>
          <a:xfrm>
            <a:off x="1415845" y="15388884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프로젝트 소개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15844" y="18105868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주요 기능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F2074B-E09C-4F8B-B742-E9CD3DBCEDED}"/>
              </a:ext>
            </a:extLst>
          </p:cNvPr>
          <p:cNvSpPr>
            <a:spLocks noGrp="1"/>
          </p:cNvSpPr>
          <p:nvPr/>
        </p:nvSpPr>
        <p:spPr>
          <a:xfrm>
            <a:off x="1824035" y="19249937"/>
            <a:ext cx="125984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4000" b="1" i="1" dirty="0">
                <a:latin typeface="+mn-ea"/>
                <a:cs typeface="+mn-ea"/>
              </a:rPr>
              <a:t>주요기능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3448B7-8C9C-4122-8956-BA98395B6B66}"/>
              </a:ext>
            </a:extLst>
          </p:cNvPr>
          <p:cNvSpPr>
            <a:spLocks noGrp="1"/>
          </p:cNvSpPr>
          <p:nvPr/>
        </p:nvSpPr>
        <p:spPr>
          <a:xfrm>
            <a:off x="12424229" y="18105868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기대 효과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4F8BF7-4EC2-411B-90FF-02014A154B56}"/>
              </a:ext>
            </a:extLst>
          </p:cNvPr>
          <p:cNvSpPr>
            <a:spLocks noGrp="1"/>
          </p:cNvSpPr>
          <p:nvPr/>
        </p:nvSpPr>
        <p:spPr>
          <a:xfrm>
            <a:off x="13030202" y="19042038"/>
            <a:ext cx="10655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b="1" i="1" dirty="0">
                <a:latin typeface="+mn-ea"/>
                <a:cs typeface="+mn-ea"/>
              </a:rPr>
              <a:t>기대효과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rot="16200000">
            <a:off x="12626772" y="11067450"/>
            <a:ext cx="45719" cy="22072556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4F8BF7-4EC2-411B-90FF-02014A154B56}"/>
              </a:ext>
            </a:extLst>
          </p:cNvPr>
          <p:cNvSpPr>
            <a:spLocks noGrp="1"/>
          </p:cNvSpPr>
          <p:nvPr/>
        </p:nvSpPr>
        <p:spPr>
          <a:xfrm>
            <a:off x="8222311" y="31317456"/>
            <a:ext cx="10655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b="1" i="1" dirty="0">
                <a:latin typeface="+mn-ea"/>
                <a:cs typeface="+mn-ea"/>
              </a:rPr>
              <a:t>여기서 </a:t>
            </a:r>
            <a:r>
              <a:rPr lang="ko-KR" altLang="en-US" sz="4000" b="1" i="1" dirty="0" err="1">
                <a:latin typeface="+mn-ea"/>
                <a:cs typeface="+mn-ea"/>
              </a:rPr>
              <a:t>부터는</a:t>
            </a:r>
            <a:r>
              <a:rPr lang="ko-KR" altLang="en-US" sz="4000" b="1" i="1" dirty="0">
                <a:latin typeface="+mn-ea"/>
                <a:cs typeface="+mn-ea"/>
              </a:rPr>
              <a:t> 원하는 형식으로 채우기</a:t>
            </a:r>
            <a:endParaRPr lang="en-US" altLang="ko-KR" sz="4000" b="1" i="1" dirty="0"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380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396</Words>
  <Application>Microsoft Office PowerPoint</Application>
  <DocSecurity>0</DocSecurity>
  <PresentationFormat>사용자 지정</PresentationFormat>
  <Paragraphs>114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맑은 고딕</vt:lpstr>
      <vt:lpstr>에스코어 드림 9 Black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win</cp:lastModifiedBy>
  <cp:revision>5</cp:revision>
  <dcterms:created xsi:type="dcterms:W3CDTF">2026-10-16T09:20:51Z</dcterms:created>
  <dcterms:modified xsi:type="dcterms:W3CDTF">2026-10-19T02:31:59Z</dcterms:modified>
</cp:coreProperties>
</file>